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5" r:id="rId1"/>
  </p:sldMasterIdLst>
  <p:sldIdLst>
    <p:sldId id="256" r:id="rId2"/>
    <p:sldId id="257" r:id="rId3"/>
    <p:sldId id="258" r:id="rId4"/>
    <p:sldId id="259" r:id="rId5"/>
    <p:sldId id="260" r:id="rId6"/>
    <p:sldId id="261" r:id="rId7"/>
    <p:sldId id="263" r:id="rId8"/>
    <p:sldId id="264" r:id="rId9"/>
    <p:sldId id="262"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ru-RU"/>
              <a:t>Образец заголовка</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a:t>Образец подзаголовка</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69EA5C4D-F35E-4D05-BDB0-22675DAEE87D}" type="datetimeFigureOut">
              <a:rPr lang="ru-RU" smtClean="0"/>
              <a:t>24.04.2026</a:t>
            </a:fld>
            <a:endParaRPr lang="ru-RU"/>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ru-RU"/>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38800002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69EA5C4D-F35E-4D05-BDB0-22675DAEE87D}" type="datetimeFigureOut">
              <a:rPr lang="ru-RU" smtClean="0"/>
              <a:t>24.04.2026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27958407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69EA5C4D-F35E-4D05-BDB0-22675DAEE87D}" type="datetimeFigureOut">
              <a:rPr lang="ru-RU" smtClean="0"/>
              <a:t>24.04.2026</a:t>
            </a:fld>
            <a:endParaRPr lang="ru-RU"/>
          </a:p>
        </p:txBody>
      </p:sp>
      <p:sp>
        <p:nvSpPr>
          <p:cNvPr id="5" name="Footer Placeholder 4"/>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38188474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69EA5C4D-F35E-4D05-BDB0-22675DAEE87D}" type="datetimeFigureOut">
              <a:rPr lang="ru-RU" smtClean="0"/>
              <a:t>24.04.2026</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3700037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a:t>Образец заголовка</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69EA5C4D-F35E-4D05-BDB0-22675DAEE87D}" type="datetimeFigureOut">
              <a:rPr lang="ru-RU" smtClean="0"/>
              <a:t>24.04.2026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8459102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69EA5C4D-F35E-4D05-BDB0-22675DAEE87D}" type="datetimeFigureOut">
              <a:rPr lang="ru-RU" smtClean="0"/>
              <a:t>24.04.2026</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37375907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9EA5C4D-F35E-4D05-BDB0-22675DAEE87D}" type="datetimeFigureOut">
              <a:rPr lang="ru-RU" smtClean="0"/>
              <a:t>24.04.2026</a:t>
            </a:fld>
            <a:endParaRPr lang="ru-RU"/>
          </a:p>
        </p:txBody>
      </p:sp>
      <p:sp>
        <p:nvSpPr>
          <p:cNvPr id="3" name="Footer Placeholder 2"/>
          <p:cNvSpPr>
            <a:spLocks noGrp="1"/>
          </p:cNvSpPr>
          <p:nvPr>
            <p:ph type="ftr" sz="quarter" idx="11"/>
          </p:nvPr>
        </p:nvSpPr>
        <p:spPr/>
        <p:txBody>
          <a:bodyPr/>
          <a:lstStyle/>
          <a:p>
            <a:endParaRPr lang="ru-RU"/>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4634692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ru-RU"/>
              <a:t>Образец заголовка</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69EA5C4D-F35E-4D05-BDB0-22675DAEE87D}" type="datetimeFigureOut">
              <a:rPr lang="ru-RU" smtClean="0"/>
              <a:t>24.04.2026</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1804550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ru-RU"/>
              <a:t>Вставка рисунка</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69EA5C4D-F35E-4D05-BDB0-22675DAEE87D}" type="datetimeFigureOut">
              <a:rPr lang="ru-RU" smtClean="0"/>
              <a:t>24.04.2026</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30298930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69EA5C4D-F35E-4D05-BDB0-22675DAEE87D}" type="datetimeFigureOut">
              <a:rPr lang="ru-RU" smtClean="0"/>
              <a:t>24.04.2026</a:t>
            </a:fld>
            <a:endParaRPr lang="ru-RU"/>
          </a:p>
        </p:txBody>
      </p:sp>
      <p:sp>
        <p:nvSpPr>
          <p:cNvPr id="6" name="Footer Placeholder 5"/>
          <p:cNvSpPr>
            <a:spLocks noGrp="1"/>
          </p:cNvSpPr>
          <p:nvPr>
            <p:ph type="ftr" sz="quarter" idx="11"/>
          </p:nvPr>
        </p:nvSpPr>
        <p:spPr/>
        <p:txBody>
          <a:bodyPr/>
          <a:lstStyle/>
          <a:p>
            <a:endParaRPr lang="ru-RU"/>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3975601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Заголовок и подпись">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ru-RU"/>
              <a:t>Образец заголовка</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4" name="Date Placeholder 3"/>
          <p:cNvSpPr>
            <a:spLocks noGrp="1"/>
          </p:cNvSpPr>
          <p:nvPr>
            <p:ph type="dt" sz="half" idx="10"/>
          </p:nvPr>
        </p:nvSpPr>
        <p:spPr/>
        <p:txBody>
          <a:bodyPr/>
          <a:lstStyle/>
          <a:p>
            <a:fld id="{69EA5C4D-F35E-4D05-BDB0-22675DAEE87D}" type="datetimeFigureOut">
              <a:rPr lang="ru-RU" smtClean="0"/>
              <a:t>24.04.2026</a:t>
            </a:fld>
            <a:endParaRPr lang="ru-RU"/>
          </a:p>
        </p:txBody>
      </p:sp>
      <p:sp>
        <p:nvSpPr>
          <p:cNvPr id="5" name="Footer Placeholder 4"/>
          <p:cNvSpPr>
            <a:spLocks noGrp="1"/>
          </p:cNvSpPr>
          <p:nvPr>
            <p:ph type="ftr" sz="quarter" idx="11"/>
          </p:nvPr>
        </p:nvSpPr>
        <p:spPr/>
        <p:txBody>
          <a:bodyPr/>
          <a:lstStyle/>
          <a:p>
            <a:endParaRPr lang="ru-RU"/>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8123602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Цитата с подписью">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ru-RU"/>
              <a:t>Образец заголовка</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4" name="Date Placeholder 3"/>
          <p:cNvSpPr>
            <a:spLocks noGrp="1"/>
          </p:cNvSpPr>
          <p:nvPr>
            <p:ph type="dt" sz="half" idx="10"/>
          </p:nvPr>
        </p:nvSpPr>
        <p:spPr/>
        <p:txBody>
          <a:bodyPr/>
          <a:lstStyle/>
          <a:p>
            <a:fld id="{69EA5C4D-F35E-4D05-BDB0-22675DAEE87D}" type="datetimeFigureOut">
              <a:rPr lang="ru-RU" smtClean="0"/>
              <a:t>24.04.2026</a:t>
            </a:fld>
            <a:endParaRPr lang="ru-RU"/>
          </a:p>
        </p:txBody>
      </p:sp>
      <p:sp>
        <p:nvSpPr>
          <p:cNvPr id="5" name="Footer Placeholder 4"/>
          <p:cNvSpPr>
            <a:spLocks noGrp="1"/>
          </p:cNvSpPr>
          <p:nvPr>
            <p:ph type="ftr" sz="quarter" idx="11"/>
          </p:nvPr>
        </p:nvSpPr>
        <p:spPr/>
        <p:txBody>
          <a:bodyPr/>
          <a:lstStyle/>
          <a:p>
            <a:endParaRPr lang="ru-RU"/>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300384235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Карточка имени">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ru-RU"/>
              <a:t>Образец заголовка</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69EA5C4D-F35E-4D05-BDB0-22675DAEE87D}" type="datetimeFigureOut">
              <a:rPr lang="ru-RU" smtClean="0"/>
              <a:t>24.04.2026</a:t>
            </a:fld>
            <a:endParaRPr lang="ru-RU"/>
          </a:p>
        </p:txBody>
      </p:sp>
      <p:sp>
        <p:nvSpPr>
          <p:cNvPr id="5" name="Footer Placeholder 4"/>
          <p:cNvSpPr>
            <a:spLocks noGrp="1"/>
          </p:cNvSpPr>
          <p:nvPr>
            <p:ph type="ftr" sz="quarter" idx="11"/>
          </p:nvPr>
        </p:nvSpPr>
        <p:spPr/>
        <p:txBody>
          <a:bodyPr/>
          <a:lstStyle/>
          <a:p>
            <a:endParaRPr lang="ru-RU"/>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4681455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Три колонки">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ru-RU"/>
              <a:t>Образец заголовка</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9EA5C4D-F35E-4D05-BDB0-22675DAEE87D}" type="datetimeFigureOut">
              <a:rPr lang="ru-RU" smtClean="0"/>
              <a:t>24.04.2026</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7623229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Столбец с тремя рисунками">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ru-RU"/>
              <a:t>Образец заголовка</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a:t>Вставка рисунка</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69EA5C4D-F35E-4D05-BDB0-22675DAEE87D}" type="datetimeFigureOut">
              <a:rPr lang="ru-RU" smtClean="0"/>
              <a:t>24.04.2026</a:t>
            </a:fld>
            <a:endParaRPr lang="ru-RU"/>
          </a:p>
        </p:txBody>
      </p:sp>
      <p:sp>
        <p:nvSpPr>
          <p:cNvPr id="8" name="Footer Placeholder 7"/>
          <p:cNvSpPr>
            <a:spLocks noGrp="1"/>
          </p:cNvSpPr>
          <p:nvPr>
            <p:ph type="ftr" sz="quarter" idx="11"/>
          </p:nvPr>
        </p:nvSpPr>
        <p:spPr>
          <a:xfrm>
            <a:off x="561111" y="6391838"/>
            <a:ext cx="3644282" cy="304801"/>
          </a:xfrm>
        </p:spPr>
        <p:txBody>
          <a:bodyPr/>
          <a:lstStyle/>
          <a:p>
            <a:endParaRPr lang="ru-RU"/>
          </a:p>
        </p:txBody>
      </p:sp>
      <p:sp>
        <p:nvSpPr>
          <p:cNvPr id="9" name="Slide Number Placeholder 8"/>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87520247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69EA5C4D-F35E-4D05-BDB0-22675DAEE87D}" type="datetimeFigureOut">
              <a:rPr lang="ru-RU" smtClean="0"/>
              <a:t>24.04.2026</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5501328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ru-RU"/>
              <a:t>Образец заголовка</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69EA5C4D-F35E-4D05-BDB0-22675DAEE87D}" type="datetimeFigureOut">
              <a:rPr lang="ru-RU" smtClean="0"/>
              <a:t>24.04.2026</a:t>
            </a:fld>
            <a:endParaRPr lang="ru-RU"/>
          </a:p>
        </p:txBody>
      </p:sp>
      <p:sp>
        <p:nvSpPr>
          <p:cNvPr id="5" name="Footer Placeholder 4"/>
          <p:cNvSpPr>
            <a:spLocks noGrp="1"/>
          </p:cNvSpPr>
          <p:nvPr>
            <p:ph type="ftr" sz="quarter" idx="11"/>
          </p:nvPr>
        </p:nvSpPr>
        <p:spPr/>
        <p:txBody>
          <a:bodyPr/>
          <a:lstStyle/>
          <a:p>
            <a:endParaRPr lang="ru-RU"/>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30CBE270-8130-4E3A-9581-1A8FF8E0A6E8}" type="slidenum">
              <a:rPr lang="ru-RU" smtClean="0"/>
              <a:t>‹#›</a:t>
            </a:fld>
            <a:endParaRPr lang="ru-RU"/>
          </a:p>
        </p:txBody>
      </p:sp>
    </p:spTree>
    <p:extLst>
      <p:ext uri="{BB962C8B-B14F-4D97-AF65-F5344CB8AC3E}">
        <p14:creationId xmlns:p14="http://schemas.microsoft.com/office/powerpoint/2010/main" val="1692332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ru-RU"/>
              <a:t>Образец заголовка</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69EA5C4D-F35E-4D05-BDB0-22675DAEE87D}" type="datetimeFigureOut">
              <a:rPr lang="ru-RU" smtClean="0"/>
              <a:t>24.04.2026</a:t>
            </a:fld>
            <a:endParaRPr lang="ru-RU"/>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ru-RU"/>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30CBE270-8130-4E3A-9581-1A8FF8E0A6E8}" type="slidenum">
              <a:rPr lang="ru-RU" smtClean="0"/>
              <a:t>‹#›</a:t>
            </a:fld>
            <a:endParaRPr lang="ru-RU"/>
          </a:p>
        </p:txBody>
      </p:sp>
    </p:spTree>
    <p:extLst>
      <p:ext uri="{BB962C8B-B14F-4D97-AF65-F5344CB8AC3E}">
        <p14:creationId xmlns:p14="http://schemas.microsoft.com/office/powerpoint/2010/main" val="95071600"/>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ru.ruwiki.ru/wiki/%D0%A4%D0%B0%D0%B9%D0%BB:ANFIS_-_de.svg"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3460D91-67C1-9300-8E12-D7A83E28324A}"/>
              </a:ext>
            </a:extLst>
          </p:cNvPr>
          <p:cNvSpPr>
            <a:spLocks noGrp="1"/>
          </p:cNvSpPr>
          <p:nvPr>
            <p:ph type="ctrTitle"/>
          </p:nvPr>
        </p:nvSpPr>
        <p:spPr>
          <a:xfrm>
            <a:off x="1721639" y="1506571"/>
            <a:ext cx="9144000" cy="2387600"/>
          </a:xfrm>
        </p:spPr>
        <p:txBody>
          <a:bodyPr/>
          <a:lstStyle/>
          <a:p>
            <a:pPr algn="ctr"/>
            <a:r>
              <a:rPr lang="ru-RU" dirty="0">
                <a:latin typeface="Times New Roman" panose="02020603050405020304" pitchFamily="18" charset="0"/>
                <a:cs typeface="Times New Roman" panose="02020603050405020304" pitchFamily="18" charset="0"/>
              </a:rPr>
              <a:t>Гибридные нейро-нечеткие сети</a:t>
            </a:r>
          </a:p>
        </p:txBody>
      </p:sp>
      <p:sp>
        <p:nvSpPr>
          <p:cNvPr id="3" name="Подзаголовок 2">
            <a:extLst>
              <a:ext uri="{FF2B5EF4-FFF2-40B4-BE49-F238E27FC236}">
                <a16:creationId xmlns:a16="http://schemas.microsoft.com/office/drawing/2014/main" id="{3644F00B-7FF9-289E-BDDC-575F5498BA74}"/>
              </a:ext>
            </a:extLst>
          </p:cNvPr>
          <p:cNvSpPr>
            <a:spLocks noGrp="1"/>
          </p:cNvSpPr>
          <p:nvPr>
            <p:ph type="subTitle" idx="1"/>
          </p:nvPr>
        </p:nvSpPr>
        <p:spPr>
          <a:xfrm>
            <a:off x="7763256" y="4708462"/>
            <a:ext cx="3916680" cy="1655762"/>
          </a:xfrm>
        </p:spPr>
        <p:txBody>
          <a:bodyPr/>
          <a:lstStyle/>
          <a:p>
            <a:r>
              <a:rPr lang="ru-RU" dirty="0">
                <a:latin typeface="Times New Roman" panose="02020603050405020304" pitchFamily="18" charset="0"/>
                <a:cs typeface="Times New Roman" panose="02020603050405020304" pitchFamily="18" charset="0"/>
              </a:rPr>
              <a:t>Выполнил </a:t>
            </a:r>
            <a:r>
              <a:rPr lang="ru-RU" dirty="0" err="1">
                <a:latin typeface="Times New Roman" panose="02020603050405020304" pitchFamily="18" charset="0"/>
                <a:cs typeface="Times New Roman" panose="02020603050405020304" pitchFamily="18" charset="0"/>
              </a:rPr>
              <a:t>студенТ</a:t>
            </a:r>
            <a:r>
              <a:rPr lang="ru-RU" dirty="0">
                <a:latin typeface="Times New Roman" panose="02020603050405020304" pitchFamily="18" charset="0"/>
                <a:cs typeface="Times New Roman" panose="02020603050405020304" pitchFamily="18" charset="0"/>
              </a:rPr>
              <a:t> ДИФ-15 </a:t>
            </a:r>
          </a:p>
          <a:p>
            <a:r>
              <a:rPr lang="ru-RU" dirty="0">
                <a:latin typeface="Times New Roman" panose="02020603050405020304" pitchFamily="18" charset="0"/>
                <a:cs typeface="Times New Roman" panose="02020603050405020304" pitchFamily="18" charset="0"/>
              </a:rPr>
              <a:t>Кузургалиев Радмир</a:t>
            </a:r>
          </a:p>
        </p:txBody>
      </p:sp>
    </p:spTree>
    <p:extLst>
      <p:ext uri="{BB962C8B-B14F-4D97-AF65-F5344CB8AC3E}">
        <p14:creationId xmlns:p14="http://schemas.microsoft.com/office/powerpoint/2010/main" val="4541272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A4C403-5292-ED2B-C461-6BAED496CB0A}"/>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ВВЕДЕНИЕ</a:t>
            </a:r>
          </a:p>
        </p:txBody>
      </p:sp>
      <p:sp>
        <p:nvSpPr>
          <p:cNvPr id="3" name="Объект 2">
            <a:extLst>
              <a:ext uri="{FF2B5EF4-FFF2-40B4-BE49-F238E27FC236}">
                <a16:creationId xmlns:a16="http://schemas.microsoft.com/office/drawing/2014/main" id="{E6CA45D5-8F62-88F3-6EBA-FCC30EEC0004}"/>
              </a:ext>
            </a:extLst>
          </p:cNvPr>
          <p:cNvSpPr>
            <a:spLocks noGrp="1"/>
          </p:cNvSpPr>
          <p:nvPr>
            <p:ph idx="1"/>
          </p:nvPr>
        </p:nvSpPr>
        <p:spPr/>
        <p:txBody>
          <a:bodyPr>
            <a:normAutofit/>
          </a:bodyPr>
          <a:lstStyle/>
          <a:p>
            <a:pPr marL="0" indent="0" algn="just">
              <a:buNone/>
            </a:pPr>
            <a:r>
              <a:rPr lang="ru-RU" sz="2400" b="1" kern="100" dirty="0">
                <a:effectLst/>
                <a:latin typeface="Times New Roman" panose="02020603050405020304" pitchFamily="18" charset="0"/>
                <a:ea typeface="Aptos" panose="020B0004020202020204" pitchFamily="34" charset="0"/>
                <a:cs typeface="Times New Roman" panose="02020603050405020304" pitchFamily="18" charset="0"/>
              </a:rPr>
              <a:t>	</a:t>
            </a:r>
            <a:r>
              <a:rPr lang="ru-RU" sz="24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Нейро-нечёткие системы</a:t>
            </a:r>
            <a:r>
              <a:rPr lang="ru-RU"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(также </a:t>
            </a:r>
            <a:r>
              <a:rPr lang="ru-RU" sz="2400" b="1"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нейро-</a:t>
            </a:r>
            <a:r>
              <a:rPr lang="ru-RU" sz="2400" b="1" kern="100" dirty="0" err="1">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фаззи</a:t>
            </a:r>
            <a:r>
              <a:rPr lang="ru-RU"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 это гибридные системы, сочетающие </a:t>
            </a:r>
            <a:r>
              <a:rPr lang="ru-RU" sz="2400" strike="noStrike"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искусственные нейронные сети</a:t>
            </a:r>
            <a:r>
              <a:rPr lang="ru-RU"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 и </a:t>
            </a:r>
            <a:r>
              <a:rPr lang="ru-RU" sz="2400" strike="noStrike"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нечёткую логику</a:t>
            </a:r>
            <a:r>
              <a:rPr lang="ru-RU" sz="2400" kern="100" dirty="0">
                <a:solidFill>
                  <a:schemeClr val="tx1"/>
                </a:solidFill>
                <a:effectLst/>
                <a:latin typeface="Times New Roman" panose="02020603050405020304" pitchFamily="18" charset="0"/>
                <a:ea typeface="Aptos" panose="020B0004020202020204" pitchFamily="34" charset="0"/>
                <a:cs typeface="Times New Roman" panose="02020603050405020304" pitchFamily="18" charset="0"/>
              </a:rPr>
              <a:t>.</a:t>
            </a:r>
            <a:endParaRPr lang="ru-RU" sz="2400" kern="100" dirty="0">
              <a:solidFill>
                <a:schemeClr val="tx1"/>
              </a:solidFill>
              <a:effectLst/>
              <a:latin typeface="Aptos" panose="020B0004020202020204" pitchFamily="34" charset="0"/>
              <a:ea typeface="Aptos" panose="020B0004020202020204" pitchFamily="34" charset="0"/>
              <a:cs typeface="Times New Roman" panose="02020603050405020304" pitchFamily="18" charset="0"/>
            </a:endParaRPr>
          </a:p>
          <a:p>
            <a:pPr marL="0" indent="0" algn="just">
              <a:buNone/>
            </a:pPr>
            <a:endParaRPr lang="ru-RU"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006797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83D77AA-3F46-2E37-E569-562976AC214B}"/>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ИДЕЯ ПОДХОДА ГИБРИДНЫХ СЕТЕЙ</a:t>
            </a:r>
          </a:p>
        </p:txBody>
      </p:sp>
      <p:sp>
        <p:nvSpPr>
          <p:cNvPr id="3" name="Объект 2">
            <a:extLst>
              <a:ext uri="{FF2B5EF4-FFF2-40B4-BE49-F238E27FC236}">
                <a16:creationId xmlns:a16="http://schemas.microsoft.com/office/drawing/2014/main" id="{CB8B2C45-7D57-1E15-FE0D-07BBF74948F9}"/>
              </a:ext>
            </a:extLst>
          </p:cNvPr>
          <p:cNvSpPr>
            <a:spLocks noGrp="1"/>
          </p:cNvSpPr>
          <p:nvPr>
            <p:ph idx="1"/>
          </p:nvPr>
        </p:nvSpPr>
        <p:spPr/>
        <p:txBody>
          <a:bodyPr>
            <a:normAutofit/>
          </a:bodyPr>
          <a:lstStyle/>
          <a:p>
            <a:pPr marL="0" indent="0" algn="just">
              <a:buNone/>
            </a:pPr>
            <a:r>
              <a:rPr lang="ru-RU" sz="24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Основная идея, положенная в основу модели гибридных сетей, заключается в том, чтобы использовать существующую выборку данных для определения параметров функций принадлежности, которые лучше всего соответствуют некоторой системе нечеткого вывода. При этом для нахождения параметров функций принадлежности используются известные процедуры обучения нейронных сетей.</a:t>
            </a:r>
            <a:endParaRPr lang="ru-RU" sz="2400" kern="100" dirty="0">
              <a:effectLst/>
              <a:latin typeface="Aptos" panose="020B0004020202020204" pitchFamily="34" charset="0"/>
              <a:ea typeface="Aptos" panose="020B0004020202020204" pitchFamily="34" charset="0"/>
              <a:cs typeface="Times New Roman" panose="02020603050405020304" pitchFamily="18" charset="0"/>
            </a:endParaRPr>
          </a:p>
          <a:p>
            <a:pPr algn="just"/>
            <a:endParaRPr lang="ru-RU" sz="2400" dirty="0"/>
          </a:p>
        </p:txBody>
      </p:sp>
    </p:spTree>
    <p:extLst>
      <p:ext uri="{BB962C8B-B14F-4D97-AF65-F5344CB8AC3E}">
        <p14:creationId xmlns:p14="http://schemas.microsoft.com/office/powerpoint/2010/main" val="31396927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A85F74D-ABC2-1D65-59D9-89180813DE83}"/>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ПРЕИМУЩЕСТВА </a:t>
            </a:r>
            <a:r>
              <a:rPr lang="en-US" dirty="0">
                <a:latin typeface="Times New Roman" panose="02020603050405020304" pitchFamily="18" charset="0"/>
                <a:cs typeface="Times New Roman" panose="02020603050405020304" pitchFamily="18" charset="0"/>
              </a:rPr>
              <a:t>ANFIS</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2FD917AE-B994-B116-71CF-56C038D3B138}"/>
              </a:ext>
            </a:extLst>
          </p:cNvPr>
          <p:cNvSpPr>
            <a:spLocks noGrp="1"/>
          </p:cNvSpPr>
          <p:nvPr>
            <p:ph idx="1"/>
          </p:nvPr>
        </p:nvSpPr>
        <p:spPr>
          <a:xfrm>
            <a:off x="1154954" y="2603500"/>
            <a:ext cx="8825659" cy="3765216"/>
          </a:xfrm>
        </p:spPr>
        <p:txBody>
          <a:bodyPr>
            <a:normAutofit/>
          </a:bodyPr>
          <a:lstStyle/>
          <a:p>
            <a:pPr marL="0" indent="0" algn="just">
              <a:buNone/>
            </a:pPr>
            <a:r>
              <a:rPr lang="en-US"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a:t>
            </a:r>
            <a:r>
              <a:rPr lang="ru-RU" sz="24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Преимущество нейро-нечётких систем связано с двумя противоречивыми требованиями, предъявляемыми к моделированию на базе нечёткой логики: интерпретируемость и точность. На практике одна из этих характеристик, как правило, доминирует. Область нейро-нечёткого моделирования подразделяется на два направления: лингвистическое нечёткое моделирование, ориентированное на интерпретируемость (преимущественно модель </a:t>
            </a:r>
            <a:r>
              <a:rPr lang="ru-RU" sz="24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Мамдани</a:t>
            </a:r>
            <a:r>
              <a:rPr lang="ru-RU" sz="24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и точное нечёткое моделирование, делающее упор на точность (преимущественно модель Такаги—</a:t>
            </a:r>
            <a:r>
              <a:rPr lang="ru-RU" sz="2400" kern="100" dirty="0" err="1">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Сугэно</a:t>
            </a:r>
            <a:r>
              <a:rPr lang="ru-RU" sz="24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—Канг (TSK)).</a:t>
            </a:r>
            <a:endParaRPr lang="ru-RU" sz="24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74839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4D56EC6-3C95-8F1F-D311-14598D75C700}"/>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МОДЕЛЬ МАДМАНИ</a:t>
            </a:r>
          </a:p>
        </p:txBody>
      </p:sp>
      <p:sp>
        <p:nvSpPr>
          <p:cNvPr id="3" name="Объект 2">
            <a:extLst>
              <a:ext uri="{FF2B5EF4-FFF2-40B4-BE49-F238E27FC236}">
                <a16:creationId xmlns:a16="http://schemas.microsoft.com/office/drawing/2014/main" id="{C893EED6-9568-7860-851B-107816471C17}"/>
              </a:ext>
            </a:extLst>
          </p:cNvPr>
          <p:cNvSpPr>
            <a:spLocks noGrp="1"/>
          </p:cNvSpPr>
          <p:nvPr>
            <p:ph idx="1"/>
          </p:nvPr>
        </p:nvSpPr>
        <p:spPr>
          <a:xfrm>
            <a:off x="1154954" y="2330784"/>
            <a:ext cx="8825659" cy="3416300"/>
          </a:xfrm>
        </p:spPr>
        <p:txBody>
          <a:bodyPr>
            <a:noAutofit/>
          </a:bodyPr>
          <a:lstStyle/>
          <a:p>
            <a:pPr marL="0" indent="0" algn="just">
              <a:lnSpc>
                <a:spcPct val="115000"/>
              </a:lnSpc>
              <a:spcAft>
                <a:spcPts val="800"/>
              </a:spcAft>
              <a:buNone/>
            </a:pPr>
            <a:r>
              <a:rPr lang="ru-RU" sz="24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Данный алгоритм описывает несколько последовательно выполняющихся этапов При этом каждый последующий этап получает на вход значения полученные на предыдущем шаге. </a:t>
            </a:r>
            <a:r>
              <a:rPr lang="ru-RU" sz="2400" dirty="0">
                <a:solidFill>
                  <a:srgbClr val="000000"/>
                </a:solidFill>
                <a:effectLst/>
                <a:latin typeface="Times New Roman" panose="02020603050405020304" pitchFamily="18" charset="0"/>
                <a:ea typeface="Aptos" panose="020B0004020202020204" pitchFamily="34" charset="0"/>
              </a:rPr>
              <a:t>Алгоритм примечателен тем, что он работает по принципу «черного ящика». На вход поступают количественные значения, на выходе они же. На промежуточных этапах используется аппарат нечеткой логики и теория нечетких множеств. </a:t>
            </a:r>
            <a:endParaRPr lang="ru-RU" sz="2400" dirty="0"/>
          </a:p>
        </p:txBody>
      </p:sp>
      <p:pic>
        <p:nvPicPr>
          <p:cNvPr id="4" name="Рисунок 3">
            <a:extLst>
              <a:ext uri="{FF2B5EF4-FFF2-40B4-BE49-F238E27FC236}">
                <a16:creationId xmlns:a16="http://schemas.microsoft.com/office/drawing/2014/main" id="{8731A6E8-7ABD-83D3-3DDC-E9CA2206567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14970" y="5388798"/>
            <a:ext cx="11362060" cy="991068"/>
          </a:xfrm>
          <a:prstGeom prst="rect">
            <a:avLst/>
          </a:prstGeom>
          <a:noFill/>
          <a:ln>
            <a:noFill/>
          </a:ln>
        </p:spPr>
      </p:pic>
    </p:spTree>
    <p:extLst>
      <p:ext uri="{BB962C8B-B14F-4D97-AF65-F5344CB8AC3E}">
        <p14:creationId xmlns:p14="http://schemas.microsoft.com/office/powerpoint/2010/main" val="13130625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9E59CA-60D1-12A7-0B1A-861E27069BDE}"/>
              </a:ext>
            </a:extLst>
          </p:cNvPr>
          <p:cNvSpPr>
            <a:spLocks noGrp="1"/>
          </p:cNvSpPr>
          <p:nvPr>
            <p:ph type="title"/>
          </p:nvPr>
        </p:nvSpPr>
        <p:spPr/>
        <p:txBody>
          <a:bodyPr/>
          <a:lstStyle/>
          <a:p>
            <a:r>
              <a:rPr lang="ru-RU" dirty="0">
                <a:latin typeface="Times New Roman" panose="02020603050405020304" pitchFamily="18" charset="0"/>
                <a:cs typeface="Times New Roman" panose="02020603050405020304" pitchFamily="18" charset="0"/>
              </a:rPr>
              <a:t>МОДЕЛЬ ТАКАГИ-СУГЭНО-КАНГ</a:t>
            </a:r>
          </a:p>
        </p:txBody>
      </p:sp>
      <p:sp>
        <p:nvSpPr>
          <p:cNvPr id="3" name="Объект 2">
            <a:extLst>
              <a:ext uri="{FF2B5EF4-FFF2-40B4-BE49-F238E27FC236}">
                <a16:creationId xmlns:a16="http://schemas.microsoft.com/office/drawing/2014/main" id="{D1217921-6616-FECB-D954-6C0743A7988F}"/>
              </a:ext>
            </a:extLst>
          </p:cNvPr>
          <p:cNvSpPr>
            <a:spLocks noGrp="1"/>
          </p:cNvSpPr>
          <p:nvPr>
            <p:ph idx="1"/>
          </p:nvPr>
        </p:nvSpPr>
        <p:spPr/>
        <p:txBody>
          <a:bodyPr/>
          <a:lstStyle/>
          <a:p>
            <a:endParaRPr lang="ru-RU"/>
          </a:p>
        </p:txBody>
      </p:sp>
      <p:pic>
        <p:nvPicPr>
          <p:cNvPr id="4" name="Рисунок 3">
            <a:hlinkClick r:id="rId2"/>
            <a:extLst>
              <a:ext uri="{FF2B5EF4-FFF2-40B4-BE49-F238E27FC236}">
                <a16:creationId xmlns:a16="http://schemas.microsoft.com/office/drawing/2014/main" id="{0A7E60B8-1B01-3F00-FCA9-B9A21355CBB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154954" y="2371224"/>
            <a:ext cx="9020092" cy="4149242"/>
          </a:xfrm>
          <a:prstGeom prst="rect">
            <a:avLst/>
          </a:prstGeom>
          <a:noFill/>
          <a:ln>
            <a:noFill/>
          </a:ln>
        </p:spPr>
      </p:pic>
    </p:spTree>
    <p:extLst>
      <p:ext uri="{BB962C8B-B14F-4D97-AF65-F5344CB8AC3E}">
        <p14:creationId xmlns:p14="http://schemas.microsoft.com/office/powerpoint/2010/main" val="17415224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E3555D9-645F-F029-D93E-3E34DEFA8B9C}"/>
              </a:ext>
            </a:extLst>
          </p:cNvPr>
          <p:cNvSpPr>
            <a:spLocks noGrp="1"/>
          </p:cNvSpPr>
          <p:nvPr>
            <p:ph type="title"/>
          </p:nvPr>
        </p:nvSpPr>
        <p:spPr/>
        <p:txBody>
          <a:bodyPr/>
          <a:lstStyle/>
          <a:p>
            <a:r>
              <a:rPr lang="ru-RU" sz="3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POPFNN</a:t>
            </a:r>
            <a:endParaRPr lang="ru-RU" dirty="0">
              <a:solidFill>
                <a:schemeClr val="bg1"/>
              </a:solidFill>
            </a:endParaRPr>
          </a:p>
        </p:txBody>
      </p:sp>
      <p:sp>
        <p:nvSpPr>
          <p:cNvPr id="3" name="Объект 2">
            <a:extLst>
              <a:ext uri="{FF2B5EF4-FFF2-40B4-BE49-F238E27FC236}">
                <a16:creationId xmlns:a16="http://schemas.microsoft.com/office/drawing/2014/main" id="{A362A89B-368F-34C9-4DF4-C00CB27A8EA0}"/>
              </a:ext>
            </a:extLst>
          </p:cNvPr>
          <p:cNvSpPr>
            <a:spLocks noGrp="1"/>
          </p:cNvSpPr>
          <p:nvPr>
            <p:ph idx="1"/>
          </p:nvPr>
        </p:nvSpPr>
        <p:spPr/>
        <p:txBody>
          <a:bodyPr>
            <a:normAutofit/>
          </a:bodyPr>
          <a:lstStyle/>
          <a:p>
            <a:pPr marL="0" indent="0" algn="just">
              <a:lnSpc>
                <a:spcPct val="115000"/>
              </a:lnSpc>
              <a:spcAft>
                <a:spcPts val="800"/>
              </a:spcAft>
              <a:buNone/>
            </a:pPr>
            <a:r>
              <a:rPr lang="ru-RU" sz="1800" b="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Псевдо-внешний продукт на основе нечётких нейронных сетей</a:t>
            </a:r>
            <a:r>
              <a:rPr lang="ru-RU"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представляет собой семейство нейро-нечётких систем, реализующих лингвистическую нечёткую модель. В литературе описаны три разновидности POPFNN:</a:t>
            </a:r>
            <a:endParaRPr lang="ru-RU" sz="1800" kern="100" dirty="0">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pPr>
            <a:r>
              <a:rPr lang="ru-RU" sz="1800" b="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POPFNN-AARS(S)</a:t>
            </a:r>
            <a:r>
              <a:rPr lang="ru-RU"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основанные на схеме аналогового приближённого рассуждения.</a:t>
            </a:r>
            <a:endParaRPr lang="ru-RU" sz="1800" kern="100" dirty="0">
              <a:solidFill>
                <a:srgbClr val="000000"/>
              </a:solidFill>
              <a:effectLst/>
              <a:latin typeface="Aptos" panose="020B0004020202020204" pitchFamily="34" charset="0"/>
              <a:ea typeface="Aptos" panose="020B0004020202020204" pitchFamily="34" charset="0"/>
              <a:cs typeface="Times New Roman" panose="02020603050405020304" pitchFamily="18" charset="0"/>
            </a:endParaRPr>
          </a:p>
          <a:p>
            <a:pPr algn="just">
              <a:lnSpc>
                <a:spcPct val="115000"/>
              </a:lnSpc>
              <a:spcAft>
                <a:spcPts val="800"/>
              </a:spcAft>
              <a:buSzPts val="1000"/>
              <a:tabLst>
                <a:tab pos="457200" algn="l"/>
              </a:tabLst>
            </a:pPr>
            <a:r>
              <a:rPr lang="ru-RU" sz="1800" b="1"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POPFNN-CRI(S)</a:t>
            </a:r>
            <a:r>
              <a:rPr lang="ru-RU"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 применяющие общепринятые композиционные нечёткие </a:t>
            </a:r>
            <a:r>
              <a:rPr lang="ru-RU" sz="1800" u="none" strike="noStrike"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правила вывода</a:t>
            </a:r>
            <a:r>
              <a:rPr lang="ru-RU" sz="1800" kern="100" dirty="0">
                <a:solidFill>
                  <a:srgbClr val="000000"/>
                </a:solidFill>
                <a:effectLst/>
                <a:latin typeface="Times New Roman" panose="02020603050405020304" pitchFamily="18" charset="0"/>
                <a:ea typeface="Aptos" panose="020B0004020202020204" pitchFamily="34" charset="0"/>
                <a:cs typeface="Times New Roman" panose="02020603050405020304" pitchFamily="18" charset="0"/>
              </a:rPr>
              <a:t>.</a:t>
            </a:r>
          </a:p>
          <a:p>
            <a:pPr algn="just">
              <a:lnSpc>
                <a:spcPct val="115000"/>
              </a:lnSpc>
              <a:spcAft>
                <a:spcPts val="800"/>
              </a:spcAft>
              <a:buSzPts val="1000"/>
              <a:tabLst>
                <a:tab pos="457200" algn="l"/>
              </a:tabLst>
            </a:pPr>
            <a:r>
              <a:rPr lang="ru-RU" sz="1800" b="1" dirty="0">
                <a:solidFill>
                  <a:srgbClr val="000000"/>
                </a:solidFill>
                <a:effectLst/>
                <a:latin typeface="Times New Roman" panose="02020603050405020304" pitchFamily="18" charset="0"/>
                <a:ea typeface="Aptos" panose="020B0004020202020204" pitchFamily="34" charset="0"/>
              </a:rPr>
              <a:t>POPFNN-TVR</a:t>
            </a:r>
            <a:r>
              <a:rPr lang="ru-RU" sz="1800" dirty="0">
                <a:solidFill>
                  <a:srgbClr val="000000"/>
                </a:solidFill>
                <a:effectLst/>
                <a:latin typeface="Times New Roman" panose="02020603050405020304" pitchFamily="18" charset="0"/>
                <a:ea typeface="Aptos" panose="020B0004020202020204" pitchFamily="34" charset="0"/>
              </a:rPr>
              <a:t>, основанные на ограничениях по </a:t>
            </a:r>
            <a:r>
              <a:rPr lang="ru-RU" sz="1800" u="none" strike="noStrike" dirty="0">
                <a:solidFill>
                  <a:srgbClr val="000000"/>
                </a:solidFill>
                <a:effectLst/>
                <a:latin typeface="Times New Roman" panose="02020603050405020304" pitchFamily="18" charset="0"/>
                <a:ea typeface="Aptos" panose="020B0004020202020204" pitchFamily="34" charset="0"/>
              </a:rPr>
              <a:t>значению истины</a:t>
            </a:r>
            <a:endParaRPr lang="ru-RU" dirty="0"/>
          </a:p>
        </p:txBody>
      </p:sp>
    </p:spTree>
    <p:extLst>
      <p:ext uri="{BB962C8B-B14F-4D97-AF65-F5344CB8AC3E}">
        <p14:creationId xmlns:p14="http://schemas.microsoft.com/office/powerpoint/2010/main" val="31221863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B0815B9-6DAE-EA89-8ADE-B7ACF8238E3F}"/>
              </a:ext>
            </a:extLst>
          </p:cNvPr>
          <p:cNvSpPr>
            <a:spLocks noGrp="1"/>
          </p:cNvSpPr>
          <p:nvPr>
            <p:ph type="title"/>
          </p:nvPr>
        </p:nvSpPr>
        <p:spPr/>
        <p:txBody>
          <a:bodyPr/>
          <a:lstStyle/>
          <a:p>
            <a:r>
              <a:rPr lang="ru-RU" sz="3600" kern="100" dirty="0">
                <a:solidFill>
                  <a:schemeClr val="bg1"/>
                </a:solidFill>
                <a:effectLst/>
                <a:latin typeface="Times New Roman" panose="02020603050405020304" pitchFamily="18" charset="0"/>
                <a:ea typeface="Aptos" panose="020B0004020202020204" pitchFamily="34" charset="0"/>
                <a:cs typeface="Times New Roman" panose="02020603050405020304" pitchFamily="18" charset="0"/>
              </a:rPr>
              <a:t>POPFNN</a:t>
            </a:r>
            <a:endParaRPr lang="ru-RU" dirty="0">
              <a:solidFill>
                <a:schemeClr val="bg1"/>
              </a:solidFill>
            </a:endParaRPr>
          </a:p>
        </p:txBody>
      </p:sp>
      <p:pic>
        <p:nvPicPr>
          <p:cNvPr id="1026" name="Picture 2" descr="POPFNN: A Pseudo Outer-product Based Fuzzy Neural Network - ScienceDirect">
            <a:extLst>
              <a:ext uri="{FF2B5EF4-FFF2-40B4-BE49-F238E27FC236}">
                <a16:creationId xmlns:a16="http://schemas.microsoft.com/office/drawing/2014/main" id="{28812E9E-0C92-830D-6F06-72602A657D84}"/>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522662" y="2414934"/>
            <a:ext cx="6476958" cy="42887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10058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826140-AB05-C2D3-55C1-3356018E0412}"/>
              </a:ext>
            </a:extLst>
          </p:cNvPr>
          <p:cNvSpPr>
            <a:spLocks noGrp="1"/>
          </p:cNvSpPr>
          <p:nvPr>
            <p:ph type="title"/>
          </p:nvPr>
        </p:nvSpPr>
        <p:spPr>
          <a:xfrm>
            <a:off x="838200" y="2972859"/>
            <a:ext cx="10515600" cy="1325563"/>
          </a:xfrm>
        </p:spPr>
        <p:txBody>
          <a:bodyPr/>
          <a:lstStyle/>
          <a:p>
            <a:pPr algn="ctr"/>
            <a:r>
              <a:rPr lang="ru-RU" dirty="0">
                <a:solidFill>
                  <a:schemeClr val="tx1"/>
                </a:solidFill>
                <a:latin typeface="Times New Roman" panose="02020603050405020304" pitchFamily="18" charset="0"/>
                <a:cs typeface="Times New Roman" panose="02020603050405020304" pitchFamily="18" charset="0"/>
              </a:rPr>
              <a:t>СПАСИБО ЗА ВНИМАНИЕ!</a:t>
            </a:r>
          </a:p>
        </p:txBody>
      </p:sp>
    </p:spTree>
    <p:extLst>
      <p:ext uri="{BB962C8B-B14F-4D97-AF65-F5344CB8AC3E}">
        <p14:creationId xmlns:p14="http://schemas.microsoft.com/office/powerpoint/2010/main" val="9408776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Совет директоров">
  <a:themeElements>
    <a:clrScheme name="Совет директоров">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Совет директоров">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овет директоров">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21</TotalTime>
  <Words>281</Words>
  <Application>Microsoft Office PowerPoint</Application>
  <PresentationFormat>Широкоэкранный</PresentationFormat>
  <Paragraphs>19</Paragraphs>
  <Slides>9</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9</vt:i4>
      </vt:variant>
    </vt:vector>
  </HeadingPairs>
  <TitlesOfParts>
    <vt:vector size="15" baseType="lpstr">
      <vt:lpstr>Aptos</vt:lpstr>
      <vt:lpstr>Arial</vt:lpstr>
      <vt:lpstr>Century Gothic</vt:lpstr>
      <vt:lpstr>Times New Roman</vt:lpstr>
      <vt:lpstr>Wingdings 3</vt:lpstr>
      <vt:lpstr>Совет директоров</vt:lpstr>
      <vt:lpstr>Гибридные нейро-нечеткие сети</vt:lpstr>
      <vt:lpstr>ВВЕДЕНИЕ</vt:lpstr>
      <vt:lpstr>ИДЕЯ ПОДХОДА ГИБРИДНЫХ СЕТЕЙ</vt:lpstr>
      <vt:lpstr>ПРЕИМУЩЕСТВА ANFIS</vt:lpstr>
      <vt:lpstr>МОДЕЛЬ МАДМАНИ</vt:lpstr>
      <vt:lpstr>МОДЕЛЬ ТАКАГИ-СУГЭНО-КАНГ</vt:lpstr>
      <vt:lpstr>POPFNN</vt:lpstr>
      <vt:lpstr>POPFNN</vt:lpstr>
      <vt:lpstr>СПАСИБО ЗА ВНИМАНИЕ!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Радмир Кузургалиев</dc:creator>
  <cp:lastModifiedBy>Радмир Кузургалиев</cp:lastModifiedBy>
  <cp:revision>6</cp:revision>
  <dcterms:created xsi:type="dcterms:W3CDTF">2026-04-24T14:52:32Z</dcterms:created>
  <dcterms:modified xsi:type="dcterms:W3CDTF">2026-04-24T15:13:48Z</dcterms:modified>
</cp:coreProperties>
</file>