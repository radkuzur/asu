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8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27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52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04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88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47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80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03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88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55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22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335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6180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656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552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984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225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11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923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8CC35-3F10-003C-E8B1-F306AC386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0143" y="3684416"/>
            <a:ext cx="8825658" cy="410305"/>
          </a:xfrm>
        </p:spPr>
        <p:txBody>
          <a:bodyPr/>
          <a:lstStyle/>
          <a:p>
            <a:pPr algn="ctr"/>
            <a:r>
              <a:rPr lang="ru-RU" sz="2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«Факторы возникновения и типичные источники производственных конфликтов»</a:t>
            </a:r>
            <a:endParaRPr lang="ru-RU" sz="28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9743538-54DC-1E8B-017A-485A97D85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8032" y="5202238"/>
            <a:ext cx="3553968" cy="1655762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Реферат выполнил студент группы ДИФ-15 Кузургалиев Р.А. 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F19607E3-0C9B-A397-8BFA-383E750840D7}"/>
              </a:ext>
            </a:extLst>
          </p:cNvPr>
          <p:cNvSpPr txBox="1">
            <a:spLocks/>
          </p:cNvSpPr>
          <p:nvPr/>
        </p:nvSpPr>
        <p:spPr>
          <a:xfrm>
            <a:off x="4550664" y="6447695"/>
            <a:ext cx="3404616" cy="4103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2025</a:t>
            </a:r>
          </a:p>
        </p:txBody>
      </p:sp>
    </p:spTree>
    <p:extLst>
      <p:ext uri="{BB962C8B-B14F-4D97-AF65-F5344CB8AC3E}">
        <p14:creationId xmlns:p14="http://schemas.microsoft.com/office/powerpoint/2010/main" val="125148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01A6E-9611-26F1-39A8-7542D75A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производственный конфликт?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204DE2-DB6F-BD58-9C11-072745697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28854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	Конфликт — это столкновение интересов, целей, мотивов или стилей работы. </a:t>
            </a:r>
            <a:r>
              <a:rPr lang="ru-RU" b="1" i="0" dirty="0">
                <a:effectLst/>
                <a:latin typeface="quote-cjk-patch"/>
              </a:rPr>
              <a:t>Основатели:</a:t>
            </a:r>
            <a:r>
              <a:rPr lang="ru-RU" b="0" i="0" dirty="0">
                <a:effectLst/>
                <a:latin typeface="quote-cjk-patch"/>
              </a:rPr>
              <a:t> Г. </a:t>
            </a:r>
            <a:r>
              <a:rPr lang="ru-RU" b="0" i="0" dirty="0" err="1">
                <a:effectLst/>
                <a:latin typeface="quote-cjk-patch"/>
              </a:rPr>
              <a:t>Мюнстерберг</a:t>
            </a:r>
            <a:r>
              <a:rPr lang="ru-RU" b="0" i="0" dirty="0">
                <a:effectLst/>
                <a:latin typeface="quote-cjk-patch"/>
              </a:rPr>
              <a:t>, Ф. Тейлор.</a:t>
            </a:r>
          </a:p>
          <a:p>
            <a:pPr marL="0" indent="0">
              <a:buNone/>
            </a:pPr>
            <a:r>
              <a:rPr lang="ru-RU" b="1" dirty="0"/>
              <a:t>	Основные причины:</a:t>
            </a:r>
            <a:endParaRPr lang="ru-RU" dirty="0"/>
          </a:p>
          <a:p>
            <a:pPr lvl="1"/>
            <a:r>
              <a:rPr lang="ru-RU" dirty="0"/>
              <a:t>Несовместимость интересов.</a:t>
            </a:r>
          </a:p>
          <a:p>
            <a:pPr lvl="1"/>
            <a:r>
              <a:rPr lang="ru-RU" dirty="0"/>
              <a:t>Ограниченность ресурсов.</a:t>
            </a:r>
          </a:p>
          <a:p>
            <a:pPr lvl="1"/>
            <a:r>
              <a:rPr lang="ru-RU" dirty="0"/>
              <a:t>Различия в ценностях и психологических особенностях.</a:t>
            </a:r>
          </a:p>
        </p:txBody>
      </p:sp>
    </p:spTree>
    <p:extLst>
      <p:ext uri="{BB962C8B-B14F-4D97-AF65-F5344CB8AC3E}">
        <p14:creationId xmlns:p14="http://schemas.microsoft.com/office/powerpoint/2010/main" val="233221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03C62-C09F-B1ED-1886-B497B174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производственных конфликтов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89B38A-0C95-6BE4-8D7A-CDE7B5274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Внутригрупповые (самые распространенные)</a:t>
            </a:r>
            <a:endParaRPr lang="ru-RU" dirty="0"/>
          </a:p>
          <a:p>
            <a:pPr lvl="1"/>
            <a:r>
              <a:rPr lang="ru-RU" i="1" dirty="0"/>
              <a:t>Между рядовыми работниками:</a:t>
            </a:r>
            <a:r>
              <a:rPr lang="ru-RU" dirty="0"/>
              <a:t> Конкуренция за продвижение, премии, статус. Проявляется завуалированно (намеки, интриги).</a:t>
            </a:r>
          </a:p>
          <a:p>
            <a:pPr lvl="1"/>
            <a:r>
              <a:rPr lang="ru-RU" i="1" dirty="0"/>
              <a:t>Из-за нарушения групповых норм:</a:t>
            </a:r>
            <a:r>
              <a:rPr lang="ru-RU" dirty="0"/>
              <a:t> Несоблюдение правил, ведущее к ущербу для всей группы (например, лишение премии).</a:t>
            </a:r>
          </a:p>
          <a:p>
            <a:r>
              <a:rPr lang="ru-RU" b="1" dirty="0"/>
              <a:t>Концепция «относительной депривации» (</a:t>
            </a:r>
            <a:r>
              <a:rPr lang="ru-RU" b="1" dirty="0" err="1"/>
              <a:t>Stouffer</a:t>
            </a:r>
            <a:r>
              <a:rPr lang="ru-RU" b="1" dirty="0"/>
              <a:t>)</a:t>
            </a:r>
            <a:endParaRPr lang="ru-RU" dirty="0"/>
          </a:p>
          <a:p>
            <a:pPr lvl="1"/>
            <a:r>
              <a:rPr lang="ru-RU" b="1" dirty="0"/>
              <a:t>Суть:</a:t>
            </a:r>
            <a:r>
              <a:rPr lang="ru-RU" dirty="0"/>
              <a:t> Разрыв между ожиданиями и реальностью.</a:t>
            </a:r>
          </a:p>
          <a:p>
            <a:pPr lvl="1"/>
            <a:r>
              <a:rPr lang="ru-RU" b="1" dirty="0"/>
              <a:t>Пример:</a:t>
            </a:r>
            <a:r>
              <a:rPr lang="ru-RU" dirty="0"/>
              <a:t> Быстрое продвижение может </a:t>
            </a:r>
            <a:r>
              <a:rPr lang="ru-RU" i="1" dirty="0"/>
              <a:t>увеличить</a:t>
            </a:r>
            <a:r>
              <a:rPr lang="ru-RU" dirty="0"/>
              <a:t> недовольство, так как растут ожидания.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085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4B141-A18B-A2BD-CB3B-19D1CED3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производственных конфликтов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2A510-94D0-6B3B-DC06-5FD877EBC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812728"/>
          </a:xfrm>
        </p:spPr>
        <p:txBody>
          <a:bodyPr>
            <a:normAutofit/>
          </a:bodyPr>
          <a:lstStyle/>
          <a:p>
            <a:r>
              <a:rPr lang="ru-RU" b="1" dirty="0"/>
              <a:t> Основные типы производственных конфликтов (2)</a:t>
            </a:r>
            <a:endParaRPr lang="ru-RU" dirty="0"/>
          </a:p>
          <a:p>
            <a:r>
              <a:rPr lang="ru-RU" b="1" dirty="0"/>
              <a:t>Конфликт «Руководитель – Подчиненный»</a:t>
            </a:r>
            <a:endParaRPr lang="ru-RU" dirty="0"/>
          </a:p>
          <a:p>
            <a:pPr lvl="1"/>
            <a:r>
              <a:rPr lang="ru-RU" b="1" dirty="0"/>
              <a:t>Причины:</a:t>
            </a:r>
            <a:endParaRPr lang="ru-RU" dirty="0"/>
          </a:p>
          <a:p>
            <a:pPr lvl="2"/>
            <a:r>
              <a:rPr lang="ru-RU" dirty="0"/>
              <a:t>Проблемы подчинения (авторитарные личности).</a:t>
            </a:r>
          </a:p>
          <a:p>
            <a:pPr lvl="2"/>
            <a:r>
              <a:rPr lang="ru-RU" dirty="0"/>
              <a:t>Несовпадение целей и стилей руководства.</a:t>
            </a:r>
          </a:p>
          <a:p>
            <a:pPr lvl="2"/>
            <a:r>
              <a:rPr lang="ru-RU" dirty="0"/>
              <a:t>Невыполнение обещаний со стороны руководителя.</a:t>
            </a:r>
          </a:p>
          <a:p>
            <a:pPr lvl="2"/>
            <a:r>
              <a:rPr lang="ru-RU" dirty="0"/>
              <a:t>Распределение ресурсов и заданий.</a:t>
            </a:r>
          </a:p>
          <a:p>
            <a:pPr lvl="1"/>
            <a:r>
              <a:rPr lang="ru-RU" b="1" dirty="0"/>
              <a:t>Роль руководителя:</a:t>
            </a:r>
            <a:r>
              <a:rPr lang="ru-RU" dirty="0"/>
              <a:t> Ключевая фигура в создании/предотвращении конфликтов.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420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8A45B-1478-0223-DAAA-9FD8C721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производственных конфликтов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6F174-0E3E-2E9E-1A9B-AE02BECB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Конфликты между работниками разного возраста и квалификации</a:t>
            </a:r>
            <a:endParaRPr lang="ru-RU" dirty="0"/>
          </a:p>
          <a:p>
            <a:pPr lvl="1"/>
            <a:r>
              <a:rPr lang="ru-RU" b="1" dirty="0"/>
              <a:t>Молодые сотрудники:</a:t>
            </a:r>
            <a:r>
              <a:rPr lang="ru-RU" dirty="0"/>
              <a:t> Проблемы адаптации, незнание норм, жилищно-бытовые вопросы.</a:t>
            </a:r>
          </a:p>
          <a:p>
            <a:pPr lvl="1"/>
            <a:r>
              <a:rPr lang="ru-RU" b="1" dirty="0"/>
              <a:t>Сотрудники среднего возраста:</a:t>
            </a:r>
            <a:r>
              <a:rPr lang="ru-RU" dirty="0"/>
              <a:t> Проблемы роста, повышения квалификации.</a:t>
            </a:r>
          </a:p>
          <a:p>
            <a:pPr lvl="1"/>
            <a:r>
              <a:rPr lang="ru-RU" b="1" dirty="0"/>
              <a:t>Сотрудники старшего возраста:</a:t>
            </a:r>
            <a:r>
              <a:rPr lang="ru-RU" dirty="0"/>
              <a:t> Несовпадение с требованиями высокой интенсивности труда, отчуждение.</a:t>
            </a:r>
          </a:p>
          <a:p>
            <a:r>
              <a:rPr lang="ru-RU" b="1" dirty="0"/>
              <a:t>Эмоциональные (психологические) конфликты</a:t>
            </a:r>
            <a:endParaRPr lang="ru-RU" dirty="0"/>
          </a:p>
          <a:p>
            <a:pPr lvl="1"/>
            <a:r>
              <a:rPr lang="ru-RU" b="1" dirty="0"/>
              <a:t>Причины:</a:t>
            </a:r>
            <a:r>
              <a:rPr lang="ru-RU" dirty="0"/>
              <a:t> Психологическая несовместимость, разница в характерах, манерах поведения, "дурное настроение".</a:t>
            </a:r>
          </a:p>
          <a:p>
            <a:pPr lvl="1"/>
            <a:r>
              <a:rPr lang="ru-RU" b="1" dirty="0"/>
              <a:t>Последствие:</a:t>
            </a:r>
            <a:r>
              <a:rPr lang="ru-RU" dirty="0"/>
              <a:t> Влияют на деловые отношения и общую атмосферу.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870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B3CE3-3E9E-3745-7608-4D92BA09C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производственных конфликтов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EBE52C-358B-CB40-034F-C8013DF1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Межгрупповые конфликты</a:t>
            </a:r>
            <a:endParaRPr lang="ru-RU" dirty="0"/>
          </a:p>
          <a:p>
            <a:pPr lvl="1"/>
            <a:r>
              <a:rPr lang="ru-RU" b="1" dirty="0"/>
              <a:t>Между:</a:t>
            </a:r>
            <a:r>
              <a:rPr lang="ru-RU" dirty="0"/>
              <a:t> отделами, подразделениями, руководством и персоналом, администрацией и профсоюзом.</a:t>
            </a:r>
          </a:p>
          <a:p>
            <a:pPr lvl="1"/>
            <a:r>
              <a:rPr lang="ru-RU" b="1" dirty="0"/>
              <a:t>Основная причина:</a:t>
            </a:r>
            <a:r>
              <a:rPr lang="ru-RU" dirty="0"/>
              <a:t> Борьба за ограниченные ресурсы (бюджет, персонал, приоритеты).</a:t>
            </a:r>
          </a:p>
          <a:p>
            <a:pPr lvl="1"/>
            <a:r>
              <a:rPr lang="ru-RU" b="1" dirty="0"/>
              <a:t>Особенность:</a:t>
            </a:r>
            <a:r>
              <a:rPr lang="ru-RU" dirty="0"/>
              <a:t> Усиливают сплоченность </a:t>
            </a:r>
            <a:r>
              <a:rPr lang="ru-RU" i="1" dirty="0"/>
              <a:t>внутри</a:t>
            </a:r>
            <a:r>
              <a:rPr lang="ru-RU" dirty="0"/>
              <a:t> конфликтующих групп.</a:t>
            </a:r>
          </a:p>
          <a:p>
            <a:pPr lvl="1"/>
            <a:r>
              <a:rPr lang="ru-RU" b="1" dirty="0"/>
              <a:t>Пример:</a:t>
            </a:r>
            <a:r>
              <a:rPr lang="ru-RU" dirty="0"/>
              <a:t> Отдел сбыта </a:t>
            </a:r>
            <a:r>
              <a:rPr lang="ru-RU" dirty="0" err="1"/>
              <a:t>vs</a:t>
            </a:r>
            <a:r>
              <a:rPr lang="ru-RU" dirty="0"/>
              <a:t>. производственный отдел (разнообразие ассортимента </a:t>
            </a:r>
            <a:r>
              <a:rPr lang="ru-RU" dirty="0" err="1"/>
              <a:t>vs</a:t>
            </a:r>
            <a:r>
              <a:rPr lang="ru-RU" dirty="0"/>
              <a:t>. эффективность производства).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25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6C4D9-4FEE-34A0-1F8F-FFD5FF33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Конфликты: Группы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AF90E-C747-4210-96FF-1E7FE4888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Главная причина:</a:t>
            </a:r>
            <a:r>
              <a:rPr lang="ru-RU" dirty="0"/>
              <a:t> Неопределенная или нечестная позиция администрации по социальным вопросам.</a:t>
            </a:r>
          </a:p>
          <a:p>
            <a:r>
              <a:rPr lang="ru-RU" b="1" dirty="0"/>
              <a:t>Факторы риска:</a:t>
            </a:r>
            <a:endParaRPr lang="ru-RU" dirty="0"/>
          </a:p>
          <a:p>
            <a:pPr lvl="1"/>
            <a:r>
              <a:rPr lang="ru-RU" dirty="0"/>
              <a:t>Недостаток или искажение информации для коллектива.</a:t>
            </a:r>
          </a:p>
          <a:p>
            <a:pPr lvl="1"/>
            <a:r>
              <a:rPr lang="ru-RU" dirty="0"/>
              <a:t>Недоверие и обоюдная неприязнь.</a:t>
            </a:r>
          </a:p>
          <a:p>
            <a:pPr lvl="1"/>
            <a:r>
              <a:rPr lang="ru-RU" b="1" dirty="0"/>
              <a:t>Обман со стороны администрации</a:t>
            </a:r>
            <a:r>
              <a:rPr lang="ru-RU" dirty="0"/>
              <a:t> — ключевой фактор роста напряженности.</a:t>
            </a:r>
          </a:p>
          <a:p>
            <a:pPr lvl="1"/>
            <a:r>
              <a:rPr lang="ru-RU" dirty="0"/>
              <a:t>Конфликты интересов при перераспределении собственности (пример с генеральным директором).</a:t>
            </a:r>
          </a:p>
        </p:txBody>
      </p:sp>
    </p:spTree>
    <p:extLst>
      <p:ext uri="{BB962C8B-B14F-4D97-AF65-F5344CB8AC3E}">
        <p14:creationId xmlns:p14="http://schemas.microsoft.com/office/powerpoint/2010/main" val="192721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6C4D9-4FEE-34A0-1F8F-FFD5FF33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причины конфликтов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AF90E-C747-4210-96FF-1E7FE4888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940" y="1600200"/>
            <a:ext cx="10110120" cy="4805082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Организационные:</a:t>
            </a:r>
            <a:endParaRPr lang="ru-RU" dirty="0"/>
          </a:p>
          <a:p>
            <a:pPr lvl="1"/>
            <a:r>
              <a:rPr lang="ru-RU" dirty="0"/>
              <a:t>Борьба за ресурсы.</a:t>
            </a:r>
          </a:p>
          <a:p>
            <a:pPr lvl="1"/>
            <a:r>
              <a:rPr lang="ru-RU" dirty="0"/>
              <a:t>Взаимозависимость задач.</a:t>
            </a:r>
          </a:p>
          <a:p>
            <a:pPr lvl="1"/>
            <a:r>
              <a:rPr lang="ru-RU" dirty="0"/>
              <a:t>Нечеткость полномочий и ответственности.</a:t>
            </a:r>
          </a:p>
          <a:p>
            <a:r>
              <a:rPr lang="ru-RU" b="1" dirty="0"/>
              <a:t>Социально-психологические:</a:t>
            </a:r>
            <a:endParaRPr lang="ru-RU" dirty="0"/>
          </a:p>
          <a:p>
            <a:pPr lvl="1"/>
            <a:r>
              <a:rPr lang="ru-RU" dirty="0"/>
              <a:t>Личная неприязнь, психологическая несовместимость.</a:t>
            </a:r>
          </a:p>
          <a:p>
            <a:pPr lvl="1"/>
            <a:r>
              <a:rPr lang="ru-RU" dirty="0"/>
              <a:t>Различия в ценностях, возрасте, опыте.</a:t>
            </a:r>
          </a:p>
          <a:p>
            <a:pPr lvl="1"/>
            <a:r>
              <a:rPr lang="ru-RU" dirty="0"/>
              <a:t>Конкуренция, карьеризм.</a:t>
            </a:r>
          </a:p>
          <a:p>
            <a:r>
              <a:rPr lang="ru-RU" b="1" dirty="0"/>
              <a:t>Управленческие:</a:t>
            </a:r>
            <a:endParaRPr lang="ru-RU" dirty="0"/>
          </a:p>
          <a:p>
            <a:pPr lvl="1"/>
            <a:r>
              <a:rPr lang="ru-RU" dirty="0"/>
              <a:t>Ошибки в подборе кадров.</a:t>
            </a:r>
          </a:p>
          <a:p>
            <a:pPr lvl="1"/>
            <a:r>
              <a:rPr lang="ru-RU" dirty="0"/>
              <a:t>Несовершенство системы стимулирования.</a:t>
            </a:r>
          </a:p>
          <a:p>
            <a:pPr lvl="1"/>
            <a:r>
              <a:rPr lang="ru-RU" dirty="0"/>
              <a:t>Неэффективный стиль руководства.</a:t>
            </a:r>
          </a:p>
          <a:p>
            <a:pPr lvl="1"/>
            <a:r>
              <a:rPr lang="ru-RU" dirty="0"/>
              <a:t>Плохая коммуникация.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40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6C4D9-4FEE-34A0-1F8F-FFD5FF33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Практические советы руководителю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AF90E-C747-4210-96FF-1E7FE4888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Правила критики:</a:t>
            </a:r>
            <a:endParaRPr lang="ru-RU" dirty="0"/>
          </a:p>
          <a:p>
            <a:pPr lvl="1"/>
            <a:r>
              <a:rPr lang="ru-RU" dirty="0"/>
              <a:t>Первое замечание — наедине.</a:t>
            </a:r>
          </a:p>
          <a:p>
            <a:pPr lvl="1"/>
            <a:r>
              <a:rPr lang="ru-RU" dirty="0"/>
              <a:t>Стремись понять точку зрения оппонента.</a:t>
            </a:r>
          </a:p>
          <a:p>
            <a:pPr lvl="1"/>
            <a:r>
              <a:rPr lang="ru-RU" dirty="0"/>
              <a:t>Признавай свои ошибки быстро.</a:t>
            </a:r>
          </a:p>
          <a:p>
            <a:r>
              <a:rPr lang="ru-RU" b="1" dirty="0"/>
              <a:t>Принципы взаимодействия:</a:t>
            </a:r>
            <a:endParaRPr lang="ru-RU" dirty="0"/>
          </a:p>
          <a:p>
            <a:pPr lvl="1"/>
            <a:r>
              <a:rPr lang="ru-RU" dirty="0"/>
              <a:t>Соблюдай "золотое правило": поступай с другими так, как хочешь, чтобы поступали с тобой.</a:t>
            </a:r>
          </a:p>
          <a:p>
            <a:pPr lvl="1"/>
            <a:r>
              <a:rPr lang="ru-RU" dirty="0"/>
              <a:t>Учитывай уровень развития коллектива.</a:t>
            </a:r>
          </a:p>
          <a:p>
            <a:pPr lvl="1"/>
            <a:r>
              <a:rPr lang="ru-RU" dirty="0"/>
              <a:t>Обеспечивай четкость задач и контроль.</a:t>
            </a:r>
          </a:p>
          <a:p>
            <a:pPr lvl="1"/>
            <a:r>
              <a:rPr lang="ru-RU" dirty="0"/>
              <a:t>Отмечай добросовестный труд.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51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7F796-72C9-2FF6-CE3F-AB8460E8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2885022"/>
            <a:ext cx="9404723" cy="140053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7642376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524</Words>
  <Application>Microsoft Office PowerPoint</Application>
  <PresentationFormat>Широкоэкранный</PresentationFormat>
  <Paragraphs>71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Aptos</vt:lpstr>
      <vt:lpstr>Arial</vt:lpstr>
      <vt:lpstr>Century Gothic</vt:lpstr>
      <vt:lpstr>quote-cjk-patch</vt:lpstr>
      <vt:lpstr>Times New Roman</vt:lpstr>
      <vt:lpstr>Wingdings 3</vt:lpstr>
      <vt:lpstr>Ион</vt:lpstr>
      <vt:lpstr>«Факторы возникновения и типичные источники производственных конфликтов»</vt:lpstr>
      <vt:lpstr>Что такое производственный конфликт?</vt:lpstr>
      <vt:lpstr>Основные типы производственных конфликтов</vt:lpstr>
      <vt:lpstr>Основные типы производственных конфликтов</vt:lpstr>
      <vt:lpstr>Основные типы производственных конфликтов</vt:lpstr>
      <vt:lpstr>Основные типы производственных конфликтов</vt:lpstr>
      <vt:lpstr>Конфликты: Группы vs. Администрация</vt:lpstr>
      <vt:lpstr>Универсальные причины конфликтов</vt:lpstr>
      <vt:lpstr>Практические советы руководителю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«Факторы возникновения и типичные источники производственных конфликтов» </dc:title>
  <dc:creator>Радмир Кузургалиев</dc:creator>
  <cp:lastModifiedBy>PR P.</cp:lastModifiedBy>
  <cp:revision>8</cp:revision>
  <dcterms:created xsi:type="dcterms:W3CDTF">2025-10-21T18:35:11Z</dcterms:created>
  <dcterms:modified xsi:type="dcterms:W3CDTF">2025-12-01T11:37:03Z</dcterms:modified>
</cp:coreProperties>
</file>