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1" r:id="rId1"/>
  </p:sldMasterIdLst>
  <p:sldIdLst>
    <p:sldId id="256" r:id="rId2"/>
    <p:sldId id="258" r:id="rId3"/>
    <p:sldId id="257" r:id="rId4"/>
    <p:sldId id="259" r:id="rId5"/>
    <p:sldId id="267" r:id="rId6"/>
    <p:sldId id="260" r:id="rId7"/>
    <p:sldId id="268" r:id="rId8"/>
    <p:sldId id="261" r:id="rId9"/>
    <p:sldId id="271" r:id="rId10"/>
    <p:sldId id="266" r:id="rId11"/>
    <p:sldId id="265" r:id="rId12"/>
    <p:sldId id="270" r:id="rId13"/>
    <p:sldId id="269" r:id="rId14"/>
    <p:sldId id="263" r:id="rId15"/>
    <p:sldId id="26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831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156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851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756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1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396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785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458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32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358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227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3655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416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60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5464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745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35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78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Проект</a:t>
            </a:r>
            <a:r>
              <a:rPr dirty="0"/>
              <a:t>: </a:t>
            </a:r>
            <a:r>
              <a:rPr dirty="0" err="1"/>
              <a:t>SmartTravel</a:t>
            </a:r>
            <a:r>
              <a:rPr dirty="0"/>
              <a:t> Planner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Умный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планирования</a:t>
            </a:r>
            <a:r>
              <a:rPr dirty="0"/>
              <a:t> </a:t>
            </a:r>
            <a:r>
              <a:rPr dirty="0" err="1"/>
              <a:t>путешествий</a:t>
            </a:r>
            <a:endParaRPr dirty="0"/>
          </a:p>
          <a:p>
            <a:r>
              <a:rPr dirty="0" err="1"/>
              <a:t>Автор</a:t>
            </a:r>
            <a:r>
              <a:rPr dirty="0"/>
              <a:t>: </a:t>
            </a:r>
            <a:r>
              <a:rPr lang="ru-RU" dirty="0"/>
              <a:t>Кузургалиев Радмир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974" y="552245"/>
            <a:ext cx="7055380" cy="1400530"/>
          </a:xfrm>
        </p:spPr>
        <p:txBody>
          <a:bodyPr/>
          <a:lstStyle/>
          <a:p>
            <a:r>
              <a:t>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967" y="1816550"/>
            <a:ext cx="4870580" cy="467755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/>
              <a:t>	Международный туристический поток увеличивается с каждым годом. Туристам крайне сложно самостоятельно составлять удобные маршруты путешествий:</a:t>
            </a:r>
          </a:p>
          <a:p>
            <a:pPr marL="514350" indent="-514350">
              <a:buFont typeface="+mj-lt"/>
              <a:buAutoNum type="arabicPeriod"/>
            </a:pPr>
            <a:r>
              <a:rPr dirty="0" err="1"/>
              <a:t>Много</a:t>
            </a:r>
            <a:r>
              <a:rPr dirty="0"/>
              <a:t> </a:t>
            </a:r>
            <a:r>
              <a:rPr dirty="0" err="1"/>
              <a:t>информации</a:t>
            </a:r>
            <a:r>
              <a:rPr dirty="0"/>
              <a:t> в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источниках</a:t>
            </a:r>
            <a:r>
              <a:rPr lang="en-US" dirty="0"/>
              <a:t>.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Невозможность</a:t>
            </a:r>
            <a:r>
              <a:rPr dirty="0"/>
              <a:t> </a:t>
            </a:r>
            <a:r>
              <a:rPr dirty="0" err="1"/>
              <a:t>персонализации</a:t>
            </a:r>
            <a:r>
              <a:rPr lang="en-US" dirty="0"/>
              <a:t>.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 err="1"/>
              <a:t>Трата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поиск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1026" name="Picture 2" descr="Туристический поток по России за минувший год увеличился на 8%">
            <a:extLst>
              <a:ext uri="{FF2B5EF4-FFF2-40B4-BE49-F238E27FC236}">
                <a16:creationId xmlns:a16="http://schemas.microsoft.com/office/drawing/2014/main" id="{39733351-BC21-401B-9155-13CA36EBC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041" y="2539191"/>
            <a:ext cx="3871882" cy="2238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Суть</a:t>
            </a:r>
            <a:r>
              <a:rPr dirty="0"/>
              <a:t> </a:t>
            </a:r>
            <a:r>
              <a:rPr dirty="0" err="1"/>
              <a:t>идеи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10" y="1622272"/>
            <a:ext cx="4832872" cy="4640234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/>
              <a:t>	</a:t>
            </a:r>
            <a:r>
              <a:rPr dirty="0" err="1"/>
              <a:t>SmartTravel</a:t>
            </a:r>
            <a:r>
              <a:rPr dirty="0"/>
              <a:t> Planner 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веб-приложение</a:t>
            </a:r>
            <a:r>
              <a:rPr dirty="0"/>
              <a:t>, </a:t>
            </a:r>
            <a:r>
              <a:rPr dirty="0" err="1"/>
              <a:t>которое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lang="ru-RU" dirty="0"/>
              <a:t>:</a:t>
            </a:r>
            <a:endParaRPr dirty="0"/>
          </a:p>
          <a:p>
            <a:pPr algn="just">
              <a:lnSpc>
                <a:spcPct val="150000"/>
              </a:lnSpc>
            </a:pPr>
            <a:r>
              <a:rPr lang="ru-RU" dirty="0">
                <a:solidFill>
                  <a:schemeClr val="accent3"/>
                </a:solidFill>
              </a:rPr>
              <a:t>С</a:t>
            </a:r>
            <a:r>
              <a:rPr dirty="0" err="1">
                <a:solidFill>
                  <a:schemeClr val="accent3"/>
                </a:solidFill>
              </a:rPr>
              <a:t>оздает</a:t>
            </a:r>
            <a:r>
              <a:rPr dirty="0">
                <a:solidFill>
                  <a:schemeClr val="accent3"/>
                </a:solidFill>
              </a:rPr>
              <a:t> </a:t>
            </a:r>
            <a:r>
              <a:rPr dirty="0" err="1">
                <a:solidFill>
                  <a:schemeClr val="accent3"/>
                </a:solidFill>
              </a:rPr>
              <a:t>персонализированные</a:t>
            </a:r>
            <a:r>
              <a:rPr lang="ru-RU" dirty="0">
                <a:solidFill>
                  <a:schemeClr val="accent3"/>
                </a:solidFill>
              </a:rPr>
              <a:t> (оптимальные)</a:t>
            </a:r>
            <a:r>
              <a:rPr dirty="0">
                <a:solidFill>
                  <a:schemeClr val="accent3"/>
                </a:solidFill>
              </a:rPr>
              <a:t> </a:t>
            </a:r>
            <a:r>
              <a:rPr lang="ru-RU" dirty="0">
                <a:solidFill>
                  <a:schemeClr val="accent3"/>
                </a:solidFill>
              </a:rPr>
              <a:t>путешествия </a:t>
            </a:r>
            <a:r>
              <a:rPr dirty="0" err="1">
                <a:solidFill>
                  <a:schemeClr val="accent3"/>
                </a:solidFill>
              </a:rPr>
              <a:t>основе</a:t>
            </a:r>
            <a:r>
              <a:rPr dirty="0">
                <a:solidFill>
                  <a:schemeClr val="accent3"/>
                </a:solidFill>
              </a:rPr>
              <a:t> </a:t>
            </a:r>
            <a:r>
              <a:rPr dirty="0" err="1">
                <a:solidFill>
                  <a:schemeClr val="accent3"/>
                </a:solidFill>
              </a:rPr>
              <a:t>интересов</a:t>
            </a:r>
            <a:r>
              <a:rPr dirty="0">
                <a:solidFill>
                  <a:schemeClr val="accent3"/>
                </a:solidFill>
              </a:rPr>
              <a:t>, </a:t>
            </a:r>
            <a:r>
              <a:rPr dirty="0" err="1">
                <a:solidFill>
                  <a:schemeClr val="accent3"/>
                </a:solidFill>
              </a:rPr>
              <a:t>бюджета</a:t>
            </a:r>
            <a:r>
              <a:rPr dirty="0">
                <a:solidFill>
                  <a:schemeClr val="accent3"/>
                </a:solidFill>
              </a:rPr>
              <a:t> и </a:t>
            </a:r>
            <a:r>
              <a:rPr dirty="0" err="1">
                <a:solidFill>
                  <a:schemeClr val="accent3"/>
                </a:solidFill>
              </a:rPr>
              <a:t>времени</a:t>
            </a:r>
            <a:r>
              <a:rPr dirty="0">
                <a:solidFill>
                  <a:schemeClr val="accent3"/>
                </a:solidFill>
              </a:rPr>
              <a:t> </a:t>
            </a:r>
            <a:r>
              <a:rPr dirty="0" err="1">
                <a:solidFill>
                  <a:schemeClr val="accent3"/>
                </a:solidFill>
              </a:rPr>
              <a:t>пользователя</a:t>
            </a:r>
            <a:r>
              <a:rPr dirty="0">
                <a:solidFill>
                  <a:schemeClr val="accent3"/>
                </a:solidFill>
              </a:rPr>
              <a:t>.</a:t>
            </a:r>
            <a:endParaRPr lang="ru-RU" dirty="0">
              <a:solidFill>
                <a:schemeClr val="accent3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ru-RU" i="1" dirty="0"/>
              <a:t>	</a:t>
            </a:r>
            <a:r>
              <a:rPr lang="ru-RU" i="1" dirty="0">
                <a:solidFill>
                  <a:schemeClr val="accent3"/>
                </a:solidFill>
              </a:rPr>
              <a:t>Целью</a:t>
            </a:r>
            <a:r>
              <a:rPr lang="ru-RU" dirty="0"/>
              <a:t> проекта является разработка программного продукта для быстрого и удобного планирования путешествий.</a:t>
            </a:r>
          </a:p>
          <a:p>
            <a:pPr>
              <a:lnSpc>
                <a:spcPct val="150000"/>
              </a:lnSpc>
            </a:pPr>
            <a:endParaRPr dirty="0"/>
          </a:p>
        </p:txBody>
      </p:sp>
      <p:pic>
        <p:nvPicPr>
          <p:cNvPr id="2050" name="Picture 2" descr="Расходы, которые забывают учесть туристы при планировании путешествия">
            <a:extLst>
              <a:ext uri="{FF2B5EF4-FFF2-40B4-BE49-F238E27FC236}">
                <a16:creationId xmlns:a16="http://schemas.microsoft.com/office/drawing/2014/main" id="{BFB51CE3-286A-4071-A9C1-6D84DCEFC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1208" y="2643672"/>
            <a:ext cx="4129936" cy="2693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Решение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982" y="1766786"/>
            <a:ext cx="4789328" cy="5007238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	Готовый программный продукт должен решать следующие задачи:</a:t>
            </a:r>
          </a:p>
          <a:p>
            <a:pPr marL="857256" lvl="1" indent="-457200">
              <a:buFont typeface="+mj-lt"/>
              <a:buAutoNum type="arabicPeriod"/>
            </a:pPr>
            <a:r>
              <a:rPr dirty="0"/>
              <a:t>AI-</a:t>
            </a:r>
            <a:r>
              <a:rPr dirty="0" err="1"/>
              <a:t>генерация</a:t>
            </a:r>
            <a:r>
              <a:rPr dirty="0"/>
              <a:t> </a:t>
            </a:r>
            <a:r>
              <a:rPr dirty="0" err="1"/>
              <a:t>маршрутов</a:t>
            </a:r>
            <a:r>
              <a:rPr lang="en-US" dirty="0"/>
              <a:t>.</a:t>
            </a:r>
            <a:endParaRPr lang="ru-RU" dirty="0"/>
          </a:p>
          <a:p>
            <a:pPr marL="857256" lvl="1" indent="-457200">
              <a:buFont typeface="+mj-lt"/>
              <a:buAutoNum type="arabicPeriod"/>
            </a:pPr>
            <a:r>
              <a:rPr dirty="0" err="1"/>
              <a:t>Интеграция</a:t>
            </a:r>
            <a:r>
              <a:rPr dirty="0"/>
              <a:t> с </a:t>
            </a:r>
            <a:r>
              <a:rPr dirty="0" err="1"/>
              <a:t>картами</a:t>
            </a:r>
            <a:r>
              <a:rPr dirty="0"/>
              <a:t> и </a:t>
            </a:r>
            <a:r>
              <a:rPr dirty="0" err="1"/>
              <a:t>билетами</a:t>
            </a:r>
            <a:r>
              <a:rPr lang="en-US" dirty="0"/>
              <a:t>.</a:t>
            </a:r>
            <a:endParaRPr lang="ru-RU" dirty="0"/>
          </a:p>
          <a:p>
            <a:pPr marL="857256" lvl="1" indent="-457200">
              <a:buFont typeface="+mj-lt"/>
              <a:buAutoNum type="arabicPeriod"/>
            </a:pPr>
            <a:r>
              <a:rPr dirty="0" err="1"/>
              <a:t>Персонализация</a:t>
            </a:r>
            <a:r>
              <a:rPr lang="en-US" dirty="0"/>
              <a:t>.</a:t>
            </a:r>
            <a:endParaRPr lang="ru-RU" dirty="0"/>
          </a:p>
          <a:p>
            <a:pPr marL="857256" lvl="1" indent="-457200">
              <a:buFont typeface="+mj-lt"/>
              <a:buAutoNum type="arabicPeriod"/>
            </a:pPr>
            <a:r>
              <a:rPr dirty="0" err="1"/>
              <a:t>Готовый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1 </a:t>
            </a:r>
            <a:r>
              <a:rPr dirty="0" err="1"/>
              <a:t>минуту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3074" name="Picture 2" descr="What is AI (artificial intelligence)? | Live Science">
            <a:extLst>
              <a:ext uri="{FF2B5EF4-FFF2-40B4-BE49-F238E27FC236}">
                <a16:creationId xmlns:a16="http://schemas.microsoft.com/office/drawing/2014/main" id="{482A30D9-919E-4765-8D4C-7ABF3F3FA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3413" y="2076232"/>
            <a:ext cx="3977605" cy="2237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57B201-7BF2-4AB2-B15E-4437CF6EF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Целевая аудитория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79AA6A-FF76-470D-985D-B840547F6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75" y="1859097"/>
            <a:ext cx="4688197" cy="4195481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/>
              <a:t>	Целевой аудитории проекта является социально активный слой населения, ведущий активный образ жизни, предпочитающий проводить своё свободное время (отпуск/выходные/праздники) в походах/экскурсиях и т.д.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4E1AC7-333C-4C55-B7FB-001E28488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367" y="2887851"/>
            <a:ext cx="3967063" cy="2116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18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Конкурентные преимущества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998" y="2052925"/>
            <a:ext cx="4590275" cy="4195481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	По сравнению  с конкурентами наше программное решение имеет ряд преимуществ: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dirty="0" err="1"/>
              <a:t>Использование</a:t>
            </a:r>
            <a:r>
              <a:rPr dirty="0"/>
              <a:t> AI</a:t>
            </a:r>
            <a:r>
              <a:rPr lang="en-US" dirty="0"/>
              <a:t>.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 err="1"/>
              <a:t>Быстрота</a:t>
            </a:r>
            <a:r>
              <a:rPr lang="ru-RU" dirty="0"/>
              <a:t> генерации</a:t>
            </a:r>
            <a:r>
              <a:rPr lang="en-US" dirty="0"/>
              <a:t>.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 err="1"/>
              <a:t>Удобный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lang="en-US" dirty="0"/>
              <a:t>.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 err="1"/>
              <a:t>Экономия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lang="ru-RU" dirty="0"/>
              <a:t> на планирование отдыха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4098" name="Picture 2" descr="What is an User Interface? - Smartpedia - t2informatik">
            <a:extLst>
              <a:ext uri="{FF2B5EF4-FFF2-40B4-BE49-F238E27FC236}">
                <a16:creationId xmlns:a16="http://schemas.microsoft.com/office/drawing/2014/main" id="{D91A3177-6DDD-4E68-9931-4D9E96958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6068" y="2296206"/>
            <a:ext cx="4307932" cy="2866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59FA0-0912-4CD2-B5F9-499F94C31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E5EBF6-EB4C-4000-A69F-9D689DAB5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71" y="1870896"/>
            <a:ext cx="4688197" cy="4195481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/>
              <a:t>	Проект представляет из себя </a:t>
            </a:r>
            <a:r>
              <a:rPr lang="en-US" dirty="0"/>
              <a:t>B2C-</a:t>
            </a:r>
            <a:r>
              <a:rPr lang="ru-RU" dirty="0"/>
              <a:t>систему, которая реализована в виде веб-приложения, с дальнейшей перспективой создания мобильного клиента.</a:t>
            </a:r>
          </a:p>
        </p:txBody>
      </p:sp>
      <p:pic>
        <p:nvPicPr>
          <p:cNvPr id="5122" name="Picture 2" descr="Веб-сервис — что это и как он работает?">
            <a:extLst>
              <a:ext uri="{FF2B5EF4-FFF2-40B4-BE49-F238E27FC236}">
                <a16:creationId xmlns:a16="http://schemas.microsoft.com/office/drawing/2014/main" id="{F1438E57-4B6F-431F-965E-6B5920625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070" y="2513045"/>
            <a:ext cx="3958059" cy="1840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3214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422" y="1642378"/>
            <a:ext cx="4067762" cy="419548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рамках реализации проекта планируется использование следующих технологий: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dirty="0"/>
              <a:t>Backend: PHP (Laravel)</a:t>
            </a:r>
            <a:r>
              <a:rPr lang="ru-RU" dirty="0"/>
              <a:t>.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/>
              <a:t>Frontend: Vue.js</a:t>
            </a:r>
            <a:r>
              <a:rPr lang="ru-RU" dirty="0"/>
              <a:t>.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/>
              <a:t>БД: PostgreSQL</a:t>
            </a:r>
            <a:r>
              <a:rPr lang="ru-RU" dirty="0"/>
              <a:t>.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/>
              <a:t>Redis</a:t>
            </a:r>
            <a:r>
              <a:rPr lang="ru-RU" dirty="0"/>
              <a:t>.</a:t>
            </a:r>
            <a:r>
              <a:rPr dirty="0"/>
              <a:t> 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dirty="0"/>
              <a:t>Docker</a:t>
            </a:r>
            <a:r>
              <a:rPr lang="ru-RU" dirty="0"/>
              <a:t>.</a:t>
            </a:r>
            <a:endParaRPr dirty="0"/>
          </a:p>
        </p:txBody>
      </p:sp>
      <p:pic>
        <p:nvPicPr>
          <p:cNvPr id="5122" name="Picture 2" descr="PHP — Википедия">
            <a:extLst>
              <a:ext uri="{FF2B5EF4-FFF2-40B4-BE49-F238E27FC236}">
                <a16:creationId xmlns:a16="http://schemas.microsoft.com/office/drawing/2014/main" id="{9F2321DA-1720-4225-8B11-6836BE111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629" y="2277034"/>
            <a:ext cx="4265938" cy="292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BD589D-7EF0-8F69-D017-CD4AED049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DE74B5-A0AA-2F47-C1D4-F8C7CE404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476" y="1650589"/>
            <a:ext cx="4676988" cy="4195481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	</a:t>
            </a:r>
            <a:r>
              <a:rPr lang="ru-RU" dirty="0"/>
              <a:t>Команда проекта состоит из 1 человека:</a:t>
            </a:r>
          </a:p>
          <a:p>
            <a:pPr algn="just"/>
            <a:r>
              <a:rPr lang="ru-RU" sz="2400" dirty="0">
                <a:solidFill>
                  <a:schemeClr val="accent3"/>
                </a:solidFill>
              </a:rPr>
              <a:t>Кузургалиев Радмир</a:t>
            </a:r>
            <a:r>
              <a:rPr lang="en-US" dirty="0"/>
              <a:t> </a:t>
            </a:r>
            <a:r>
              <a:rPr lang="ru-RU" dirty="0"/>
              <a:t>(2003 г.р.) – </a:t>
            </a:r>
            <a:r>
              <a:rPr lang="ru-RU" sz="2400" dirty="0">
                <a:solidFill>
                  <a:schemeClr val="accent3"/>
                </a:solidFill>
              </a:rPr>
              <a:t>главный архитектор и исполнитель </a:t>
            </a:r>
            <a:r>
              <a:rPr lang="ru-RU" dirty="0"/>
              <a:t>проекта – студент 1 курса магистратуры АГУ им. </a:t>
            </a:r>
            <a:r>
              <a:rPr lang="ru-RU" dirty="0" err="1"/>
              <a:t>В.Н.Татищева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1026" name="Picture 2" descr="Люди – Бесплатные иконки: люди">
            <a:extLst>
              <a:ext uri="{FF2B5EF4-FFF2-40B4-BE49-F238E27FC236}">
                <a16:creationId xmlns:a16="http://schemas.microsoft.com/office/drawing/2014/main" id="{BDD27E59-BEBD-68B8-4141-F8EB17EA8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094" y="1650589"/>
            <a:ext cx="2633466" cy="2633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038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168D5-7DCB-4555-81E9-4F2017ECF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36" y="452718"/>
            <a:ext cx="7491218" cy="1400530"/>
          </a:xfrm>
        </p:spPr>
        <p:txBody>
          <a:bodyPr/>
          <a:lstStyle/>
          <a:p>
            <a:r>
              <a:rPr lang="ru-RU" dirty="0"/>
              <a:t>План выполнение проекта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B61ACB4-67F6-46BE-9FBE-CC7B0D6300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986666"/>
            <a:ext cx="9151117" cy="4418616"/>
          </a:xfrm>
        </p:spPr>
      </p:pic>
    </p:spTree>
    <p:extLst>
      <p:ext uri="{BB962C8B-B14F-4D97-AF65-F5344CB8AC3E}">
        <p14:creationId xmlns:p14="http://schemas.microsoft.com/office/powerpoint/2010/main" val="614546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Бизнес-план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080" y="1276619"/>
            <a:ext cx="8807738" cy="268774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/>
              <a:t>	Для реализации первой версии проекта (</a:t>
            </a:r>
            <a:r>
              <a:rPr lang="en-US" dirty="0"/>
              <a:t>MVP</a:t>
            </a:r>
            <a:r>
              <a:rPr lang="ru-RU" dirty="0"/>
              <a:t>) и  дальнейшего его развития в первый год разработки ожидается привлечение средств инвестора в размере </a:t>
            </a:r>
            <a:r>
              <a:rPr lang="ru-RU" sz="2400" dirty="0">
                <a:solidFill>
                  <a:schemeClr val="accent3"/>
                </a:solidFill>
              </a:rPr>
              <a:t>10 000 000 р</a:t>
            </a:r>
            <a:r>
              <a:rPr lang="ru-RU" dirty="0"/>
              <a:t>.  Ожидаемый срок окупаемости проекта – </a:t>
            </a:r>
            <a:r>
              <a:rPr lang="ru-RU" sz="2400" dirty="0">
                <a:solidFill>
                  <a:schemeClr val="accent3"/>
                </a:solidFill>
              </a:rPr>
              <a:t>72 месяца</a:t>
            </a:r>
            <a:r>
              <a:rPr lang="ru-RU" dirty="0"/>
              <a:t>. Основной приток целевой аудитории планируется достичь за счёт активной рекламы в </a:t>
            </a:r>
            <a:r>
              <a:rPr lang="ru-RU" sz="2400" dirty="0">
                <a:solidFill>
                  <a:schemeClr val="accent3"/>
                </a:solidFill>
              </a:rPr>
              <a:t>мессенджерах</a:t>
            </a:r>
            <a:r>
              <a:rPr lang="ru-RU" dirty="0"/>
              <a:t> и популярных </a:t>
            </a:r>
            <a:r>
              <a:rPr lang="ru-RU" sz="2400" dirty="0">
                <a:solidFill>
                  <a:schemeClr val="accent3"/>
                </a:solidFill>
              </a:rPr>
              <a:t>видеохостингах</a:t>
            </a:r>
            <a:r>
              <a:rPr lang="ru-RU" dirty="0"/>
              <a:t>. Источник прибыли заключается в наценке в размере </a:t>
            </a:r>
            <a:r>
              <a:rPr lang="ru-RU" sz="2600" dirty="0">
                <a:solidFill>
                  <a:schemeClr val="accent3"/>
                </a:solidFill>
              </a:rPr>
              <a:t>5%</a:t>
            </a:r>
            <a:r>
              <a:rPr lang="ru-RU" dirty="0"/>
              <a:t> на билеты/экскурсии, предложенные для посещения в рамках предложенного маршрута, а также в продаже эксклюзивных маршрутов.</a:t>
            </a:r>
            <a:endParaRPr lang="en-US" dirty="0"/>
          </a:p>
        </p:txBody>
      </p:sp>
      <p:pic>
        <p:nvPicPr>
          <p:cNvPr id="1026" name="Picture 2" descr="Планируем бюджет">
            <a:extLst>
              <a:ext uri="{FF2B5EF4-FFF2-40B4-BE49-F238E27FC236}">
                <a16:creationId xmlns:a16="http://schemas.microsoft.com/office/drawing/2014/main" id="{79CBB219-E692-465A-BDEC-F3C604054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323" y="4164915"/>
            <a:ext cx="4011353" cy="2709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8433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68E3F2-4026-4F1A-AF17-B1FA24FC3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ECF734-08B8-417D-B403-FF379E2A1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676" y="1245008"/>
            <a:ext cx="4446323" cy="5268175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/>
              <a:t>	Для уменьшения вероятности возникновения негативных последствий рисков предполагается:</a:t>
            </a:r>
          </a:p>
          <a:p>
            <a:pPr>
              <a:lnSpc>
                <a:spcPct val="150000"/>
              </a:lnSpc>
            </a:pPr>
            <a:r>
              <a:rPr lang="ru-RU" dirty="0"/>
              <a:t>Проведение еженедельных </a:t>
            </a:r>
            <a:r>
              <a:rPr lang="ru-RU" dirty="0" err="1"/>
              <a:t>бэкапов</a:t>
            </a:r>
            <a:r>
              <a:rPr lang="ru-RU" dirty="0"/>
              <a:t>;</a:t>
            </a:r>
          </a:p>
          <a:p>
            <a:pPr>
              <a:lnSpc>
                <a:spcPct val="150000"/>
              </a:lnSpc>
            </a:pPr>
            <a:r>
              <a:rPr lang="ru-RU" dirty="0"/>
              <a:t>Ежемесячные собрания для устранения общих неполадок и споров</a:t>
            </a:r>
            <a:r>
              <a:rPr lang="en-US" dirty="0"/>
              <a:t>;</a:t>
            </a:r>
          </a:p>
          <a:p>
            <a:pPr>
              <a:lnSpc>
                <a:spcPct val="150000"/>
              </a:lnSpc>
            </a:pPr>
            <a:r>
              <a:rPr lang="en-US" dirty="0"/>
              <a:t> </a:t>
            </a:r>
            <a:r>
              <a:rPr lang="ru-RU" dirty="0"/>
              <a:t>Размещение всех проектов данных на локальных хранилищах.</a:t>
            </a:r>
          </a:p>
        </p:txBody>
      </p:sp>
      <p:pic>
        <p:nvPicPr>
          <p:cNvPr id="6146" name="Picture 2" descr="Купировать риски международных ИТ - Connect-WIT">
            <a:extLst>
              <a:ext uri="{FF2B5EF4-FFF2-40B4-BE49-F238E27FC236}">
                <a16:creationId xmlns:a16="http://schemas.microsoft.com/office/drawing/2014/main" id="{AF4CAC8F-C594-4595-B143-8A9FBF0A3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277" y="1853248"/>
            <a:ext cx="4105214" cy="2736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948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82F3E9-472F-43E4-94C6-8D3A006FE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успех?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A93806-F65D-4448-8B1F-B50706B72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55" y="1769707"/>
            <a:ext cx="8424279" cy="419548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Проект считается </a:t>
            </a:r>
            <a:r>
              <a:rPr lang="ru-RU" sz="2400" dirty="0">
                <a:solidFill>
                  <a:schemeClr val="accent3"/>
                </a:solidFill>
              </a:rPr>
              <a:t>успешным</a:t>
            </a:r>
            <a:r>
              <a:rPr lang="ru-RU" dirty="0"/>
              <a:t>, если:</a:t>
            </a:r>
          </a:p>
          <a:p>
            <a:pPr lvl="0"/>
            <a:r>
              <a:rPr lang="ru-RU" dirty="0"/>
              <a:t>пользователь может создать маршрут менее чем за 1 минуту; </a:t>
            </a:r>
          </a:p>
          <a:p>
            <a:pPr lvl="0"/>
            <a:r>
              <a:rPr lang="ru-RU" dirty="0"/>
              <a:t>система генерирует релевантные маршруты ≥ 80% случаев; </a:t>
            </a:r>
          </a:p>
          <a:p>
            <a:pPr lvl="0"/>
            <a:r>
              <a:rPr lang="ru-RU" dirty="0"/>
              <a:t>пользовательская оценка сервиса ≥ 4/5; </a:t>
            </a:r>
          </a:p>
          <a:p>
            <a:pPr lvl="0"/>
            <a:r>
              <a:rPr lang="ru-RU" dirty="0"/>
              <a:t>система стабильно работает при нагрузке </a:t>
            </a:r>
            <a:r>
              <a:rPr lang="en-US" dirty="0"/>
              <a:t>~1000RPS</a:t>
            </a:r>
            <a:r>
              <a:rPr lang="ru-RU" dirty="0"/>
              <a:t>;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2321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79856E-DB34-42D4-ADE9-81AF87458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Перспективы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F55F2B-F97D-49C6-92B6-FAEAA4858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436" y="2117818"/>
            <a:ext cx="4298103" cy="4195481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	После выхода проекта планируется достичь охвата аудитории внутри РФ около </a:t>
            </a:r>
            <a:r>
              <a:rPr lang="ru-RU" sz="2400" dirty="0">
                <a:solidFill>
                  <a:schemeClr val="accent3"/>
                </a:solidFill>
              </a:rPr>
              <a:t>300 000</a:t>
            </a:r>
            <a:r>
              <a:rPr lang="ru-RU" dirty="0"/>
              <a:t> новых пользователей в месяц. В дальнейшем планируется </a:t>
            </a:r>
            <a:r>
              <a:rPr lang="ru-RU" sz="2400" dirty="0">
                <a:solidFill>
                  <a:schemeClr val="accent3"/>
                </a:solidFill>
              </a:rPr>
              <a:t>выход на международную арену</a:t>
            </a:r>
            <a:r>
              <a:rPr lang="ru-RU" dirty="0"/>
              <a:t>.</a:t>
            </a:r>
          </a:p>
        </p:txBody>
      </p:sp>
      <p:pic>
        <p:nvPicPr>
          <p:cNvPr id="2050" name="Picture 2" descr="Земной шар – Бесплатные иконки: экология и окружающая среда">
            <a:extLst>
              <a:ext uri="{FF2B5EF4-FFF2-40B4-BE49-F238E27FC236}">
                <a16:creationId xmlns:a16="http://schemas.microsoft.com/office/drawing/2014/main" id="{B9E256D1-28CC-48BA-BF3C-5B109C681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9644" y="2314022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3117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9FDDBD-7747-46A5-AC52-BD34623D4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396" y="3052850"/>
            <a:ext cx="7055380" cy="1400530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4292291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67</TotalTime>
  <Words>465</Words>
  <Application>Microsoft Office PowerPoint</Application>
  <PresentationFormat>Экран (4:3)</PresentationFormat>
  <Paragraphs>55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Ион</vt:lpstr>
      <vt:lpstr>Проект: SmartTravel Planner</vt:lpstr>
      <vt:lpstr>Проблема</vt:lpstr>
      <vt:lpstr>Суть идеи</vt:lpstr>
      <vt:lpstr>Решение</vt:lpstr>
      <vt:lpstr>Целевая аудитория</vt:lpstr>
      <vt:lpstr>Конкурентные преимущества</vt:lpstr>
      <vt:lpstr>Реализация проекта</vt:lpstr>
      <vt:lpstr>Технологии</vt:lpstr>
      <vt:lpstr>Команда</vt:lpstr>
      <vt:lpstr>План выполнение проекта</vt:lpstr>
      <vt:lpstr>Бизнес-план</vt:lpstr>
      <vt:lpstr>Риски</vt:lpstr>
      <vt:lpstr>Что такое успех?</vt:lpstr>
      <vt:lpstr>Перспективы проекта</vt:lpstr>
      <vt:lpstr>Спасибо за внимание!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Проект: SmartTravel Planner</dc:title>
  <dc:subject/>
  <dc:creator/>
  <cp:keywords/>
  <dc:description>generated using python-pptx</dc:description>
  <cp:lastModifiedBy>Радмир Кузургалиев</cp:lastModifiedBy>
  <cp:revision>43</cp:revision>
  <dcterms:created xsi:type="dcterms:W3CDTF">2013-01-27T09:14:16Z</dcterms:created>
  <dcterms:modified xsi:type="dcterms:W3CDTF">2026-05-08T17:43:09Z</dcterms:modified>
  <cp:category/>
</cp:coreProperties>
</file>